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NOx (ppb)</c:v>
                </c:pt>
              </c:strCache>
            </c:strRef>
          </c:tx>
          <c:spPr>
            <a:solidFill>
              <a:srgbClr val="4ADE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ADE80"/>
              </a:solidFill>
              <a:effectLst/>
            </c:spPr>
          </c:dPt>
          <c:dPt>
            <c:idx val="1"/>
            <c:invertIfNegative val="0"/>
            <c:bubble3D val="0"/>
            <c:spPr>
              <a:solidFill>
                <a:srgbClr val="4ADE80"/>
              </a:solidFill>
              <a:effectLst/>
            </c:spPr>
          </c:dPt>
          <c:dPt>
            <c:idx val="2"/>
            <c:invertIfNegative val="0"/>
            <c:bubble3D val="0"/>
            <c:spPr>
              <a:solidFill>
                <a:srgbClr val="4ADE80"/>
              </a:solidFill>
              <a:effectLst/>
            </c:spPr>
          </c:dPt>
          <c:dPt>
            <c:idx val="3"/>
            <c:invertIfNegative val="0"/>
            <c:bubble3D val="0"/>
            <c:spPr>
              <a:solidFill>
                <a:srgbClr val="4ADE80"/>
              </a:solidFill>
              <a:effectLst/>
            </c:spPr>
          </c:dPt>
          <c:dPt>
            <c:idx val="4"/>
            <c:invertIfNegative val="0"/>
            <c:bubble3D val="0"/>
            <c:spPr>
              <a:solidFill>
                <a:srgbClr val="4ADE80"/>
              </a:solidFill>
              <a:effectLst/>
            </c:spPr>
          </c:dPt>
          <c:dPt>
            <c:idx val="5"/>
            <c:invertIfNegative val="0"/>
            <c:bubble3D val="0"/>
            <c:spPr>
              <a:solidFill>
                <a:srgbClr val="4ADE80"/>
              </a:solidFill>
              <a:effectLst/>
            </c:spPr>
          </c:dPt>
          <c:dPt>
            <c:idx val="6"/>
            <c:invertIfNegative val="0"/>
            <c:bubble3D val="0"/>
            <c:spPr>
              <a:solidFill>
                <a:srgbClr val="4ADE80"/>
              </a:solidFill>
              <a:effectLst/>
            </c:spPr>
          </c:dPt>
          <c:dPt>
            <c:idx val="7"/>
            <c:invertIfNegative val="0"/>
            <c:bubble3D val="0"/>
            <c:spPr>
              <a:solidFill>
                <a:srgbClr val="F59E0B"/>
              </a:solidFill>
              <a:effectLst/>
            </c:spPr>
          </c:dPt>
          <c:dPt>
            <c:idx val="8"/>
            <c:invertIfNegative val="0"/>
            <c:bubble3D val="0"/>
            <c:spPr>
              <a:solidFill>
                <a:srgbClr val="F97316"/>
              </a:solidFill>
              <a:effectLst/>
            </c:spPr>
          </c:dPt>
          <c:dPt>
            <c:idx val="9"/>
            <c:invertIfNegative val="0"/>
            <c:bubble3D val="0"/>
            <c:spPr>
              <a:solidFill>
                <a:srgbClr val="F97316"/>
              </a:solidFill>
              <a:effectLst/>
            </c:spPr>
          </c:dPt>
          <c:dPt>
            <c:idx val="10"/>
            <c:invertIfNegative val="0"/>
            <c:bubble3D val="0"/>
            <c:spPr>
              <a:solidFill>
                <a:srgbClr val="F59E0B"/>
              </a:solidFill>
              <a:effectLst/>
            </c:spPr>
          </c:dPt>
          <c:dPt>
            <c:idx val="11"/>
            <c:invertIfNegative val="0"/>
            <c:bubble3D val="0"/>
            <c:spPr>
              <a:solidFill>
                <a:srgbClr val="F59E0B"/>
              </a:solidFill>
              <a:effectLst/>
            </c:spPr>
          </c:dPt>
          <c:dPt>
            <c:idx val="12"/>
            <c:invertIfNegative val="0"/>
            <c:bubble3D val="0"/>
            <c:spPr>
              <a:solidFill>
                <a:srgbClr val="F59E0B"/>
              </a:solidFill>
              <a:effectLst/>
            </c:spPr>
          </c:dPt>
          <c:dPt>
            <c:idx val="13"/>
            <c:invertIfNegative val="0"/>
            <c:bubble3D val="0"/>
            <c:spPr>
              <a:solidFill>
                <a:srgbClr val="F59E0B"/>
              </a:solidFill>
              <a:effectLst/>
            </c:spPr>
          </c:dPt>
          <c:dPt>
            <c:idx val="14"/>
            <c:invertIfNegative val="0"/>
            <c:bubble3D val="0"/>
            <c:spPr>
              <a:solidFill>
                <a:srgbClr val="F59E0B"/>
              </a:solidFill>
              <a:effectLst/>
            </c:spPr>
          </c:dPt>
          <c:dPt>
            <c:idx val="15"/>
            <c:invertIfNegative val="0"/>
            <c:bubble3D val="0"/>
            <c:spPr>
              <a:solidFill>
                <a:srgbClr val="F59E0B"/>
              </a:solidFill>
              <a:effectLst/>
            </c:spPr>
          </c:dPt>
          <c:dPt>
            <c:idx val="16"/>
            <c:invertIfNegative val="0"/>
            <c:bubble3D val="0"/>
            <c:spPr>
              <a:solidFill>
                <a:srgbClr val="F59E0B"/>
              </a:solidFill>
              <a:effectLst/>
            </c:spPr>
          </c:dPt>
          <c:dPt>
            <c:idx val="17"/>
            <c:invertIfNegative val="0"/>
            <c:bubble3D val="0"/>
            <c:spPr>
              <a:solidFill>
                <a:srgbClr val="F59E0B"/>
              </a:solidFill>
              <a:effectLst/>
            </c:spPr>
          </c:dPt>
          <c:dPt>
            <c:idx val="18"/>
            <c:invertIfNegative val="0"/>
            <c:bubble3D val="0"/>
            <c:spPr>
              <a:solidFill>
                <a:srgbClr val="F59E0B"/>
              </a:solidFill>
              <a:effectLst/>
            </c:spPr>
          </c:dPt>
          <c:dPt>
            <c:idx val="19"/>
            <c:invertIfNegative val="0"/>
            <c:bubble3D val="0"/>
            <c:spPr>
              <a:solidFill>
                <a:srgbClr val="F59E0B"/>
              </a:solidFill>
              <a:effectLst/>
            </c:spPr>
          </c:dPt>
          <c:dPt>
            <c:idx val="20"/>
            <c:invertIfNegative val="0"/>
            <c:bubble3D val="0"/>
            <c:spPr>
              <a:solidFill>
                <a:srgbClr val="F59E0B"/>
              </a:solidFill>
              <a:effectLst/>
            </c:spPr>
          </c:dPt>
          <c:dPt>
            <c:idx val="21"/>
            <c:invertIfNegative val="0"/>
            <c:bubble3D val="0"/>
            <c:spPr>
              <a:solidFill>
                <a:srgbClr val="F59E0B"/>
              </a:solidFill>
              <a:effectLst/>
            </c:spPr>
          </c:dPt>
          <c:dPt>
            <c:idx val="22"/>
            <c:invertIfNegative val="0"/>
            <c:bubble3D val="0"/>
            <c:spPr>
              <a:solidFill>
                <a:srgbClr val="F59E0B"/>
              </a:solidFill>
              <a:effectLst/>
            </c:spPr>
          </c:dPt>
          <c:dPt>
            <c:idx val="23"/>
            <c:invertIfNegative val="0"/>
            <c:bubble3D val="0"/>
            <c:spPr>
              <a:solidFill>
                <a:srgbClr val="F59E0B"/>
              </a:solidFill>
              <a:effectLst/>
            </c:spPr>
          </c:dPt>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95.9</c:v>
                </c:pt>
                <c:pt idx="1">
                  <c:v>69.6</c:v>
                </c:pt>
                <c:pt idx="2">
                  <c:v>48.3</c:v>
                </c:pt>
                <c:pt idx="3">
                  <c:v>48.5</c:v>
                </c:pt>
                <c:pt idx="4">
                  <c:v>35.3</c:v>
                </c:pt>
                <c:pt idx="5">
                  <c:v>46</c:v>
                </c:pt>
                <c:pt idx="6">
                  <c:v>83.5</c:v>
                </c:pt>
                <c:pt idx="7">
                  <c:v>175.4</c:v>
                </c:pt>
                <c:pt idx="8">
                  <c:v>219.7</c:v>
                </c:pt>
                <c:pt idx="9">
                  <c:v>210.8</c:v>
                </c:pt>
                <c:pt idx="10">
                  <c:v>179.3</c:v>
                </c:pt>
                <c:pt idx="11">
                  <c:v>153.6</c:v>
                </c:pt>
                <c:pt idx="12">
                  <c:v>135.2</c:v>
                </c:pt>
                <c:pt idx="13">
                  <c:v>128.5</c:v>
                </c:pt>
                <c:pt idx="14">
                  <c:v>122.5</c:v>
                </c:pt>
                <c:pt idx="15">
                  <c:v>125.4</c:v>
                </c:pt>
                <c:pt idx="16">
                  <c:v>128.8</c:v>
                </c:pt>
                <c:pt idx="17">
                  <c:v>152.4</c:v>
                </c:pt>
                <c:pt idx="18">
                  <c:v>175.9</c:v>
                </c:pt>
                <c:pt idx="19">
                  <c:v>198.4</c:v>
                </c:pt>
                <c:pt idx="20">
                  <c:v>187.8</c:v>
                </c:pt>
                <c:pt idx="21">
                  <c:v>138.3</c:v>
                </c:pt>
                <c:pt idx="22">
                  <c:v>111.6</c:v>
                </c:pt>
                <c:pt idx="23">
                  <c:v>111.1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4"/>
        <c:overlap val="0"/>
        <c:axId val="2094734554"/>
        <c:axId val="2094734552"/>
      </c:barChart>
      <c:catAx>
        <c:axId val="2094734554"/>
        <c:scaling>
          <c:orientation val="minMax"/>
        </c:scaling>
        <c:delete val="0"/>
        <c:axPos val="b"/>
        <c:title>
          <c:tx>
            <c:rich>
              <a:bodyPr/>
              <a:lstStyle/>
              <a:p>
                <a:pPr>
                  <a:defRPr sz="1100" b="0" i="0" u="none" strike="noStrike">
                    <a:solidFill>
                      <a:srgbClr val="6B7280"/>
                    </a:solidFill>
                    <a:latin typeface="Arial"/>
                  </a:defRPr>
                </a:pPr>
                <a:r>
                  <a:rPr sz="1100" b="0" i="0" u="none" strike="noStrike">
                    <a:solidFill>
                      <a:srgbClr val="6B7280"/>
                    </a:solidFill>
                    <a:latin typeface="Arial"/>
                  </a:rPr>
                  <a:t>Hour of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240"/>
          <c:min val="0"/>
        </c:scaling>
        <c:delete val="0"/>
        <c:axPos val="l"/>
        <c:majorGridlines>
          <c:spPr>
            <a:ln w="12700"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Mean NOx (ppb)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absolute error (ppb)</c:v>
                </c:pt>
              </c:strCache>
            </c:strRef>
          </c:tx>
          <c:spPr>
            <a:solidFill>
              <a:srgbClr val="15803D"/>
            </a:solidFill>
            <a:effectLst/>
          </c:spPr>
          <c:invertIfNegative val="0"/>
          <c:dLbls>
            <c:numFmt formatCode="0.00" sourceLinked="0"/>
            <c:txPr>
              <a:bodyPr/>
              <a:lstStyle/>
              <a:p>
                <a:pPr>
                  <a:defRPr b="1" i="0" strike="noStrike" sz="13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15803D"/>
              </a:solidFill>
              <a:effectLst/>
            </c:spPr>
          </c:dPt>
          <c:dPt>
            <c:idx val="1"/>
            <c:invertIfNegative val="0"/>
            <c:bubble3D val="0"/>
            <c:spPr>
              <a:solidFill>
                <a:srgbClr val="9CA3AF"/>
              </a:solidFill>
              <a:effectLst/>
            </c:spPr>
          </c:dPt>
          <c:cat>
            <c:multiLvlStrRef>
              <c:f>Sheet1!$A$2:$A$3</c:f>
              <c:multiLvlStrCache>
                <c:ptCount val="2"/>
                <c:lvl>
                  <c:pt idx="0">
                    <c:v>AirSense</c:v>
                  </c:pt>
                  <c:pt idx="1">
                    <c:v>Persistence baseline</c:v>
                  </c:pt>
                </c:lvl>
              </c:multiLvlStrCache>
            </c:multiLvlStrRef>
          </c:cat>
          <c:val>
            <c:numRef>
              <c:f>Sheet1!$B$2:$B$3</c:f>
              <c:numCache>
                <c:formatCode>General</c:formatCode>
                <c:ptCount val="2"/>
                <c:pt idx="0">
                  <c:v>25.92</c:v>
                </c:pt>
                <c:pt idx="1">
                  <c:v>34.94</c:v>
                </c:pt>
              </c:numCache>
            </c:numRef>
          </c:val>
        </c:ser>
        <c:dLbls>
          <c:numFmt formatCode="0.00" sourceLinked="0"/>
          <c:txPr>
            <a:bodyPr/>
            <a:lstStyle/>
            <a:p>
              <a:pPr>
                <a:defRPr b="1" i="0" strike="noStrike" sz="1300" u="none">
                  <a:solidFill>
                    <a:srgbClr val="1F2937"/>
                  </a:solidFill>
                  <a:latin typeface="Arial"/>
                </a:defRPr>
              </a:pPr>
            </a:p>
          </c:txPr>
          <c:showLegendKey val="0"/>
          <c:showVal val="1"/>
          <c:showCatName val="0"/>
          <c:showSerName val="0"/>
          <c:showPercent val="0"/>
          <c:showBubbleSize val="0"/>
          <c:showLeaderLines val="0"/>
        </c:dLbls>
        <c:gapWidth val="10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42"/>
          <c:min val="0"/>
        </c:scaling>
        <c:delete val="0"/>
        <c:axPos val="l"/>
        <c:majorGridlines>
          <c:spPr>
            <a:ln w="12700"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MAE (ppb) — lower is better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AirSense forecasts the hyper-local NOx peak 1-6 hours ahead and attaches a recommended action. Built by Amaan Khan and Srishti Rathi at MAIT Delhi. Everything you will see is computed from real sensor data and validated on a held-out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start from a hypothetical. We audited our own campus on foot, defined indicators, then went looking for data. The number that matters: evening NOx runs 3.3 times overnight levels. Pollution is a predictable daily cycle, not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UCI hourly air-quality dataset. Cleaning is real code and it is honest: this particular mirror was pre-cleaned, so the sentinel pass found zero values to replace, and we say so. The daily cycle is unmistakable - a morning rush peak and an evening peak, with an overnight trough.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data, cleaning, features, model, forecast, action. We chose gradient boosting because the dataset is small and tabular and we wanted inspectable feature importances. The critical detail is that every feature is lagged - the model only ever sees the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live and public. Open the link, and the dashboard shows the current reading with a risk band and the action to take. The orange banner is the whole product thesis: the peak is two hours away and here is what to do about it. Six screens behind a sidebar.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most teams will not have. Our MAE is 25.92 against a persistence baseline of 34.94 - 25.8 percent better, R squared 0.801, on a chronological split so no future data leaked. And the operational number: of 72 hours that actually went High, we flagged 52 an hour ahead. We report the 20 misses and 15 false alarms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splits three ways. Environmental: filtration and scheduling become targeted instead of blind. Social: sensitive individuals get an actionable decision. Governance: every number is traceable and anything simulated is labelled. Add your Assignment 4A quantified ESG targets to the bar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 is a real sensor pilot on campus. The honest gap in the model today is that we hold weather constant - a forecast feed is the biggest single improvement available. We need a reference sensor for validation, placement permission, and credits beyond the trial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1"/>
        </a:solidFill>
      </p:bgPr>
    </p:bg>
    <p:spTree>
      <p:nvGrpSpPr>
        <p:cNvPr id="1" name=""/>
        <p:cNvGrpSpPr/>
        <p:nvPr/>
      </p:nvGrpSpPr>
      <p:grpSpPr>
        <a:xfrm>
          <a:off x="0" y="0"/>
          <a:ext cx="0" cy="0"/>
          <a:chOff x="0" y="0"/>
          <a:chExt cx="0" cy="0"/>
        </a:xfrm>
      </p:grpSpPr>
      <p:sp>
        <p:nvSpPr>
          <p:cNvPr id="2" name="Text 0"/>
          <p:cNvSpPr/>
          <p:nvPr/>
        </p:nvSpPr>
        <p:spPr>
          <a:xfrm>
            <a:off x="566928" y="1298448"/>
            <a:ext cx="7680960" cy="105156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AirSense</a:t>
            </a:r>
            <a:endParaRPr lang="en-US" sz="6000" dirty="0"/>
          </a:p>
        </p:txBody>
      </p:sp>
      <p:sp>
        <p:nvSpPr>
          <p:cNvPr id="3" name="Text 1"/>
          <p:cNvSpPr/>
          <p:nvPr/>
        </p:nvSpPr>
        <p:spPr>
          <a:xfrm>
            <a:off x="566928" y="2340864"/>
            <a:ext cx="7680960" cy="420624"/>
          </a:xfrm>
          <a:prstGeom prst="rect">
            <a:avLst/>
          </a:prstGeom>
          <a:noFill/>
          <a:ln/>
        </p:spPr>
        <p:txBody>
          <a:bodyPr wrap="square" lIns="0" tIns="0" rIns="0" bIns="0" rtlCol="0" anchor="ctr"/>
          <a:lstStyle/>
          <a:p>
            <a:pPr indent="0" marL="0">
              <a:buNone/>
            </a:pPr>
            <a:r>
              <a:rPr lang="en-US" sz="2100" dirty="0">
                <a:solidFill>
                  <a:srgbClr val="DCEBE2"/>
                </a:solidFill>
                <a:latin typeface="Calibri" pitchFamily="34" charset="0"/>
                <a:ea typeface="Calibri" pitchFamily="34" charset="-122"/>
                <a:cs typeface="Calibri" pitchFamily="34" charset="-120"/>
              </a:rPr>
              <a:t>Predicting the evening air-quality peak before it arrives.</a:t>
            </a:r>
            <a:endParaRPr lang="en-US" sz="2100" dirty="0"/>
          </a:p>
        </p:txBody>
      </p:sp>
      <p:sp>
        <p:nvSpPr>
          <p:cNvPr id="4" name="Shape 2"/>
          <p:cNvSpPr/>
          <p:nvPr/>
        </p:nvSpPr>
        <p:spPr>
          <a:xfrm>
            <a:off x="566928" y="2962656"/>
            <a:ext cx="4617720" cy="512064"/>
          </a:xfrm>
          <a:prstGeom prst="roundRect">
            <a:avLst>
              <a:gd name="adj" fmla="val 16071"/>
            </a:avLst>
          </a:prstGeom>
          <a:solidFill>
            <a:srgbClr val="1B5E35"/>
          </a:solidFill>
          <a:ln w="12700">
            <a:solidFill>
              <a:srgbClr val="1B5E35"/>
            </a:solidFill>
            <a:prstDash val="solid"/>
          </a:ln>
        </p:spPr>
      </p:sp>
      <p:sp>
        <p:nvSpPr>
          <p:cNvPr id="5" name="Shape 3"/>
          <p:cNvSpPr/>
          <p:nvPr/>
        </p:nvSpPr>
        <p:spPr>
          <a:xfrm>
            <a:off x="786384" y="3145536"/>
            <a:ext cx="146304" cy="146304"/>
          </a:xfrm>
          <a:prstGeom prst="ellipse">
            <a:avLst/>
          </a:prstGeom>
          <a:solidFill>
            <a:srgbClr val="4ADE80"/>
          </a:solidFill>
          <a:ln/>
        </p:spPr>
      </p:sp>
      <p:sp>
        <p:nvSpPr>
          <p:cNvPr id="6" name="Text 4"/>
          <p:cNvSpPr/>
          <p:nvPr/>
        </p:nvSpPr>
        <p:spPr>
          <a:xfrm>
            <a:off x="1024128" y="2962656"/>
            <a:ext cx="4114800" cy="512064"/>
          </a:xfrm>
          <a:prstGeom prst="rect">
            <a:avLst/>
          </a:prstGeom>
          <a:noFill/>
          <a:ln/>
        </p:spPr>
        <p:txBody>
          <a:bodyPr wrap="square" lIns="0" tIns="0" rIns="0" bIns="0" rtlCol="0" anchor="ctr"/>
          <a:lstStyle/>
          <a:p>
            <a:pPr indent="0" marL="0">
              <a:buNone/>
            </a:pPr>
            <a:r>
              <a:rPr lang="en-US" sz="1300" b="1" dirty="0">
                <a:solidFill>
                  <a:srgbClr val="D6F0DF"/>
                </a:solidFill>
                <a:latin typeface="Calibri" pitchFamily="34" charset="0"/>
                <a:ea typeface="Calibri" pitchFamily="34" charset="-122"/>
                <a:cs typeface="Calibri" pitchFamily="34" charset="-120"/>
              </a:rPr>
              <a:t>25.8% better than the naive baseline  ·  R² 0.801</a:t>
            </a:r>
            <a:endParaRPr lang="en-US" sz="1300" dirty="0"/>
          </a:p>
        </p:txBody>
      </p:sp>
      <p:sp>
        <p:nvSpPr>
          <p:cNvPr id="7" name="Shape 5"/>
          <p:cNvSpPr/>
          <p:nvPr/>
        </p:nvSpPr>
        <p:spPr>
          <a:xfrm flipV="1">
            <a:off x="8275320" y="4315968"/>
            <a:ext cx="640080" cy="301752"/>
          </a:xfrm>
          <a:prstGeom prst="line">
            <a:avLst/>
          </a:prstGeom>
          <a:noFill/>
          <a:ln w="34925">
            <a:solidFill>
              <a:srgbClr val="4ADE80"/>
            </a:solidFill>
            <a:prstDash val="solid"/>
          </a:ln>
        </p:spPr>
      </p:sp>
      <p:sp>
        <p:nvSpPr>
          <p:cNvPr id="8" name="Shape 6"/>
          <p:cNvSpPr/>
          <p:nvPr/>
        </p:nvSpPr>
        <p:spPr>
          <a:xfrm>
            <a:off x="8915400" y="4315968"/>
            <a:ext cx="548640" cy="210312"/>
          </a:xfrm>
          <a:prstGeom prst="line">
            <a:avLst/>
          </a:prstGeom>
          <a:noFill/>
          <a:ln w="34925">
            <a:solidFill>
              <a:srgbClr val="4ADE80"/>
            </a:solidFill>
            <a:prstDash val="solid"/>
          </a:ln>
        </p:spPr>
      </p:sp>
      <p:sp>
        <p:nvSpPr>
          <p:cNvPr id="9" name="Shape 7"/>
          <p:cNvSpPr/>
          <p:nvPr/>
        </p:nvSpPr>
        <p:spPr>
          <a:xfrm flipV="1">
            <a:off x="9464040" y="3931920"/>
            <a:ext cx="594360" cy="594360"/>
          </a:xfrm>
          <a:prstGeom prst="line">
            <a:avLst/>
          </a:prstGeom>
          <a:noFill/>
          <a:ln w="34925">
            <a:solidFill>
              <a:srgbClr val="4ADE80"/>
            </a:solidFill>
            <a:prstDash val="solid"/>
          </a:ln>
        </p:spPr>
      </p:sp>
      <p:sp>
        <p:nvSpPr>
          <p:cNvPr id="10" name="Shape 8"/>
          <p:cNvSpPr/>
          <p:nvPr/>
        </p:nvSpPr>
        <p:spPr>
          <a:xfrm flipV="1">
            <a:off x="10058400" y="3364992"/>
            <a:ext cx="658368" cy="566928"/>
          </a:xfrm>
          <a:prstGeom prst="line">
            <a:avLst/>
          </a:prstGeom>
          <a:noFill/>
          <a:ln w="34925">
            <a:solidFill>
              <a:srgbClr val="86EFAC"/>
            </a:solidFill>
            <a:prstDash val="dash"/>
          </a:ln>
        </p:spPr>
      </p:sp>
      <p:sp>
        <p:nvSpPr>
          <p:cNvPr id="11" name="Shape 9"/>
          <p:cNvSpPr/>
          <p:nvPr/>
        </p:nvSpPr>
        <p:spPr>
          <a:xfrm flipV="1">
            <a:off x="10716768" y="2907792"/>
            <a:ext cx="566928" cy="457200"/>
          </a:xfrm>
          <a:prstGeom prst="line">
            <a:avLst/>
          </a:prstGeom>
          <a:noFill/>
          <a:ln w="34925">
            <a:solidFill>
              <a:srgbClr val="86EFAC"/>
            </a:solidFill>
            <a:prstDash val="dash"/>
          </a:ln>
        </p:spPr>
      </p:sp>
      <p:sp>
        <p:nvSpPr>
          <p:cNvPr id="12" name="Shape 10"/>
          <p:cNvSpPr/>
          <p:nvPr/>
        </p:nvSpPr>
        <p:spPr>
          <a:xfrm>
            <a:off x="11155680" y="2788920"/>
            <a:ext cx="237744" cy="237744"/>
          </a:xfrm>
          <a:prstGeom prst="ellipse">
            <a:avLst/>
          </a:prstGeom>
          <a:solidFill>
            <a:srgbClr val="F97316"/>
          </a:solidFill>
          <a:ln/>
        </p:spPr>
      </p:sp>
      <p:sp>
        <p:nvSpPr>
          <p:cNvPr id="13" name="Text 11"/>
          <p:cNvSpPr/>
          <p:nvPr/>
        </p:nvSpPr>
        <p:spPr>
          <a:xfrm>
            <a:off x="10625328" y="2377440"/>
            <a:ext cx="1280160" cy="274320"/>
          </a:xfrm>
          <a:prstGeom prst="rect">
            <a:avLst/>
          </a:prstGeom>
          <a:noFill/>
          <a:ln/>
        </p:spPr>
        <p:txBody>
          <a:bodyPr wrap="square" lIns="0" tIns="0" rIns="0" bIns="0"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peak</a:t>
            </a:r>
            <a:endParaRPr lang="en-US" sz="1200" dirty="0"/>
          </a:p>
        </p:txBody>
      </p:sp>
      <p:sp>
        <p:nvSpPr>
          <p:cNvPr id="14" name="Text 12"/>
          <p:cNvSpPr/>
          <p:nvPr/>
        </p:nvSpPr>
        <p:spPr>
          <a:xfrm>
            <a:off x="10012680" y="4754880"/>
            <a:ext cx="1737360" cy="274320"/>
          </a:xfrm>
          <a:prstGeom prst="rect">
            <a:avLst/>
          </a:prstGeom>
          <a:noFill/>
          <a:ln/>
        </p:spPr>
        <p:txBody>
          <a:bodyPr wrap="square" lIns="0" tIns="0" rIns="0" bIns="0" rtlCol="0" anchor="ctr"/>
          <a:lstStyle/>
          <a:p>
            <a:pPr algn="ctr" indent="0" marL="0">
              <a:buNone/>
            </a:pPr>
            <a:r>
              <a:rPr lang="en-US" sz="1100" dirty="0">
                <a:solidFill>
                  <a:srgbClr val="86EFAC"/>
                </a:solidFill>
                <a:latin typeface="Calibri" pitchFamily="34" charset="0"/>
                <a:ea typeface="Calibri" pitchFamily="34" charset="-122"/>
                <a:cs typeface="Calibri" pitchFamily="34" charset="-120"/>
              </a:rPr>
              <a:t>forecast</a:t>
            </a:r>
            <a:endParaRPr lang="en-US" sz="1100" dirty="0"/>
          </a:p>
        </p:txBody>
      </p:sp>
      <p:sp>
        <p:nvSpPr>
          <p:cNvPr id="15" name="Text 13"/>
          <p:cNvSpPr/>
          <p:nvPr/>
        </p:nvSpPr>
        <p:spPr>
          <a:xfrm>
            <a:off x="8001000" y="4864608"/>
            <a:ext cx="1554480" cy="274320"/>
          </a:xfrm>
          <a:prstGeom prst="rect">
            <a:avLst/>
          </a:prstGeom>
          <a:noFill/>
          <a:ln/>
        </p:spPr>
        <p:txBody>
          <a:bodyPr wrap="square" lIns="0" tIns="0" rIns="0" bIns="0" rtlCol="0" anchor="ctr"/>
          <a:lstStyle/>
          <a:p>
            <a:pPr algn="ctr" indent="0" marL="0">
              <a:buNone/>
            </a:pPr>
            <a:r>
              <a:rPr lang="en-US" sz="1100" dirty="0">
                <a:solidFill>
                  <a:srgbClr val="86EFAC"/>
                </a:solidFill>
                <a:latin typeface="Calibri" pitchFamily="34" charset="0"/>
                <a:ea typeface="Calibri" pitchFamily="34" charset="-122"/>
                <a:cs typeface="Calibri" pitchFamily="34" charset="-120"/>
              </a:rPr>
              <a:t>measured</a:t>
            </a:r>
            <a:endParaRPr lang="en-US" sz="1100" dirty="0"/>
          </a:p>
        </p:txBody>
      </p:sp>
      <p:sp>
        <p:nvSpPr>
          <p:cNvPr id="16" name="Shape 14"/>
          <p:cNvSpPr/>
          <p:nvPr/>
        </p:nvSpPr>
        <p:spPr>
          <a:xfrm>
            <a:off x="566928" y="5413248"/>
            <a:ext cx="4754880" cy="0"/>
          </a:xfrm>
          <a:prstGeom prst="line">
            <a:avLst/>
          </a:prstGeom>
          <a:noFill/>
          <a:ln w="12700">
            <a:solidFill>
              <a:srgbClr val="2C6B45"/>
            </a:solidFill>
            <a:prstDash val="solid"/>
          </a:ln>
        </p:spPr>
      </p:sp>
      <p:sp>
        <p:nvSpPr>
          <p:cNvPr id="17" name="Text 15"/>
          <p:cNvSpPr/>
          <p:nvPr/>
        </p:nvSpPr>
        <p:spPr>
          <a:xfrm>
            <a:off x="566928" y="5541264"/>
            <a:ext cx="56692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Amaan Khan  ·  Srishti Rathi</a:t>
            </a:r>
            <a:endParaRPr lang="en-US" sz="1500" dirty="0"/>
          </a:p>
        </p:txBody>
      </p:sp>
      <p:sp>
        <p:nvSpPr>
          <p:cNvPr id="18" name="Text 16"/>
          <p:cNvSpPr/>
          <p:nvPr/>
        </p:nvSpPr>
        <p:spPr>
          <a:xfrm>
            <a:off x="566928" y="5870448"/>
            <a:ext cx="7863840" cy="292608"/>
          </a:xfrm>
          <a:prstGeom prst="rect">
            <a:avLst/>
          </a:prstGeom>
          <a:noFill/>
          <a:ln/>
        </p:spPr>
        <p:txBody>
          <a:bodyPr wrap="square" lIns="0" tIns="0" rIns="0" bIns="0" rtlCol="0" anchor="ctr"/>
          <a:lstStyle/>
          <a:p>
            <a:pPr indent="0" marL="0">
              <a:buNone/>
            </a:pPr>
            <a:r>
              <a:rPr lang="en-US" sz="1250" dirty="0">
                <a:solidFill>
                  <a:srgbClr val="9DC4AC"/>
                </a:solidFill>
                <a:latin typeface="Calibri" pitchFamily="34" charset="0"/>
                <a:ea typeface="Calibri" pitchFamily="34" charset="-122"/>
                <a:cs typeface="Calibri" pitchFamily="34" charset="-120"/>
              </a:rPr>
              <a:t>Maharaja Agrasen Institute of Technology, Delhi  ·  1M1B Portfolio Submission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300" b="1" dirty="0">
                <a:solidFill>
                  <a:srgbClr val="1F2937"/>
                </a:solidFill>
                <a:latin typeface="Arial" pitchFamily="34" charset="0"/>
                <a:ea typeface="Arial" pitchFamily="34" charset="-122"/>
                <a:cs typeface="Arial" pitchFamily="34" charset="-120"/>
              </a:rPr>
              <a:t>The air goes bad before anyone knows</a:t>
            </a:r>
            <a:endParaRPr lang="en-US" sz="33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Delhi NCR — and specifically our own campus, which we audited on foot.</a:t>
            </a:r>
            <a:endParaRPr lang="en-US" sz="1450" dirty="0"/>
          </a:p>
        </p:txBody>
      </p:sp>
      <p:sp>
        <p:nvSpPr>
          <p:cNvPr id="4" name="Text 2"/>
          <p:cNvSpPr/>
          <p:nvPr/>
        </p:nvSpPr>
        <p:spPr>
          <a:xfrm>
            <a:off x="566928" y="1572768"/>
            <a:ext cx="6446520" cy="914400"/>
          </a:xfrm>
          <a:prstGeom prst="rect">
            <a:avLst/>
          </a:prstGeom>
          <a:noFill/>
          <a:ln/>
        </p:spPr>
        <p:txBody>
          <a:bodyPr wrap="square" lIns="0" tIns="0" rIns="0" bIns="0" rtlCol="0" anchor="ctr"/>
          <a:lstStyle/>
          <a:p>
            <a:pPr indent="0" marL="0">
              <a:lnSpc>
                <a:spcPts val="2200"/>
              </a:lnSpc>
              <a:buNone/>
            </a:pPr>
            <a:r>
              <a:rPr lang="en-US" sz="1450" dirty="0">
                <a:solidFill>
                  <a:srgbClr val="4B5563"/>
                </a:solidFill>
                <a:latin typeface="Calibri" pitchFamily="34" charset="0"/>
                <a:ea typeface="Calibri" pitchFamily="34" charset="-122"/>
                <a:cs typeface="Calibri" pitchFamily="34" charset="-120"/>
              </a:rPr>
              <a:t>Government monitoring stations report city-wide conditions, and they report them after the fact. On a campus that means the decision people actually face — should this session move indoors, should the gate queue be staggered — is always made too late.</a:t>
            </a:r>
            <a:endParaRPr lang="en-US" sz="1450" dirty="0"/>
          </a:p>
        </p:txBody>
      </p:sp>
      <p:sp>
        <p:nvSpPr>
          <p:cNvPr id="5" name="Shape 3"/>
          <p:cNvSpPr/>
          <p:nvPr/>
        </p:nvSpPr>
        <p:spPr>
          <a:xfrm>
            <a:off x="566928" y="2724912"/>
            <a:ext cx="384048" cy="384048"/>
          </a:xfrm>
          <a:prstGeom prst="ellipse">
            <a:avLst/>
          </a:prstGeom>
          <a:solidFill>
            <a:srgbClr val="15803D"/>
          </a:solidFill>
          <a:ln/>
        </p:spPr>
      </p:sp>
      <p:sp>
        <p:nvSpPr>
          <p:cNvPr id="6" name="Text 4"/>
          <p:cNvSpPr/>
          <p:nvPr/>
        </p:nvSpPr>
        <p:spPr>
          <a:xfrm>
            <a:off x="566928" y="2724912"/>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7" name="Text 5"/>
          <p:cNvSpPr/>
          <p:nvPr/>
        </p:nvSpPr>
        <p:spPr>
          <a:xfrm>
            <a:off x="1133856" y="2688336"/>
            <a:ext cx="192024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Students</a:t>
            </a:r>
            <a:endParaRPr lang="en-US" sz="1400" dirty="0"/>
          </a:p>
        </p:txBody>
      </p:sp>
      <p:sp>
        <p:nvSpPr>
          <p:cNvPr id="8" name="Text 6"/>
          <p:cNvSpPr/>
          <p:nvPr/>
        </p:nvSpPr>
        <p:spPr>
          <a:xfrm>
            <a:off x="1133856" y="2944368"/>
            <a:ext cx="5760720" cy="38404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Outdoor sessions, sport and assembly sit in the evening peak.</a:t>
            </a:r>
            <a:endParaRPr lang="en-US" sz="1250" dirty="0"/>
          </a:p>
        </p:txBody>
      </p:sp>
      <p:sp>
        <p:nvSpPr>
          <p:cNvPr id="9" name="Shape 7"/>
          <p:cNvSpPr/>
          <p:nvPr/>
        </p:nvSpPr>
        <p:spPr>
          <a:xfrm>
            <a:off x="566928" y="3511296"/>
            <a:ext cx="384048" cy="384048"/>
          </a:xfrm>
          <a:prstGeom prst="ellipse">
            <a:avLst/>
          </a:prstGeom>
          <a:solidFill>
            <a:srgbClr val="15803D"/>
          </a:solidFill>
          <a:ln/>
        </p:spPr>
      </p:sp>
      <p:sp>
        <p:nvSpPr>
          <p:cNvPr id="10" name="Text 8"/>
          <p:cNvSpPr/>
          <p:nvPr/>
        </p:nvSpPr>
        <p:spPr>
          <a:xfrm>
            <a:off x="566928" y="3511296"/>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1" name="Text 9"/>
          <p:cNvSpPr/>
          <p:nvPr/>
        </p:nvSpPr>
        <p:spPr>
          <a:xfrm>
            <a:off x="1133856" y="3474720"/>
            <a:ext cx="192024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Staff</a:t>
            </a:r>
            <a:endParaRPr lang="en-US" sz="1400" dirty="0"/>
          </a:p>
        </p:txBody>
      </p:sp>
      <p:sp>
        <p:nvSpPr>
          <p:cNvPr id="12" name="Text 10"/>
          <p:cNvSpPr/>
          <p:nvPr/>
        </p:nvSpPr>
        <p:spPr>
          <a:xfrm>
            <a:off x="1133856" y="3730752"/>
            <a:ext cx="5760720" cy="38404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No advance signal to reschedule activity or raise filtration.</a:t>
            </a:r>
            <a:endParaRPr lang="en-US" sz="1250" dirty="0"/>
          </a:p>
        </p:txBody>
      </p:sp>
      <p:sp>
        <p:nvSpPr>
          <p:cNvPr id="13" name="Shape 11"/>
          <p:cNvSpPr/>
          <p:nvPr/>
        </p:nvSpPr>
        <p:spPr>
          <a:xfrm>
            <a:off x="566928" y="4297680"/>
            <a:ext cx="384048" cy="384048"/>
          </a:xfrm>
          <a:prstGeom prst="ellipse">
            <a:avLst/>
          </a:prstGeom>
          <a:solidFill>
            <a:srgbClr val="15803D"/>
          </a:solidFill>
          <a:ln/>
        </p:spPr>
      </p:sp>
      <p:sp>
        <p:nvSpPr>
          <p:cNvPr id="14" name="Text 12"/>
          <p:cNvSpPr/>
          <p:nvPr/>
        </p:nvSpPr>
        <p:spPr>
          <a:xfrm>
            <a:off x="566928" y="4297680"/>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5" name="Text 13"/>
          <p:cNvSpPr/>
          <p:nvPr/>
        </p:nvSpPr>
        <p:spPr>
          <a:xfrm>
            <a:off x="1133856" y="4261104"/>
            <a:ext cx="192024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Commuters</a:t>
            </a:r>
            <a:endParaRPr lang="en-US" sz="1400" dirty="0"/>
          </a:p>
        </p:txBody>
      </p:sp>
      <p:sp>
        <p:nvSpPr>
          <p:cNvPr id="16" name="Text 14"/>
          <p:cNvSpPr/>
          <p:nvPr/>
        </p:nvSpPr>
        <p:spPr>
          <a:xfrm>
            <a:off x="1133856" y="4517136"/>
            <a:ext cx="5760720" cy="38404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The gate and parking areas are the most traffic-exposed points on site.</a:t>
            </a:r>
            <a:endParaRPr lang="en-US" sz="1250" dirty="0"/>
          </a:p>
        </p:txBody>
      </p:sp>
      <p:sp>
        <p:nvSpPr>
          <p:cNvPr id="17" name="Shape 15"/>
          <p:cNvSpPr/>
          <p:nvPr/>
        </p:nvSpPr>
        <p:spPr>
          <a:xfrm>
            <a:off x="7452360" y="1572768"/>
            <a:ext cx="4160520" cy="3611880"/>
          </a:xfrm>
          <a:prstGeom prst="roundRect">
            <a:avLst>
              <a:gd name="adj" fmla="val 2278"/>
            </a:avLst>
          </a:prstGeom>
          <a:solidFill>
            <a:srgbClr val="EFF7F1"/>
          </a:solidFill>
          <a:ln w="12700">
            <a:solidFill>
              <a:srgbClr val="EFF7F1"/>
            </a:solidFill>
            <a:prstDash val="solid"/>
          </a:ln>
        </p:spPr>
      </p:sp>
      <p:sp>
        <p:nvSpPr>
          <p:cNvPr id="18" name="Text 16"/>
          <p:cNvSpPr/>
          <p:nvPr/>
        </p:nvSpPr>
        <p:spPr>
          <a:xfrm>
            <a:off x="7772400" y="1828800"/>
            <a:ext cx="3566160" cy="274320"/>
          </a:xfrm>
          <a:prstGeom prst="rect">
            <a:avLst/>
          </a:prstGeom>
          <a:noFill/>
          <a:ln/>
        </p:spPr>
        <p:txBody>
          <a:bodyPr wrap="square" lIns="0" tIns="0" rIns="0" bIns="0" rtlCol="0" anchor="ctr"/>
          <a:lstStyle/>
          <a:p>
            <a:pPr indent="0" marL="0">
              <a:buNone/>
            </a:pPr>
            <a:r>
              <a:rPr lang="en-US" sz="1050" b="1" spc="110" kern="0" dirty="0">
                <a:solidFill>
                  <a:srgbClr val="15803D"/>
                </a:solidFill>
                <a:latin typeface="Calibri" pitchFamily="34" charset="0"/>
                <a:ea typeface="Calibri" pitchFamily="34" charset="-122"/>
                <a:cs typeface="Calibri" pitchFamily="34" charset="-120"/>
              </a:rPr>
              <a:t>MEASURED IN OUR OWN DATA</a:t>
            </a:r>
            <a:endParaRPr lang="en-US" sz="1050" dirty="0"/>
          </a:p>
        </p:txBody>
      </p:sp>
      <p:sp>
        <p:nvSpPr>
          <p:cNvPr id="19" name="Text 17"/>
          <p:cNvSpPr/>
          <p:nvPr/>
        </p:nvSpPr>
        <p:spPr>
          <a:xfrm>
            <a:off x="7772400" y="2157984"/>
            <a:ext cx="3566160" cy="1051560"/>
          </a:xfrm>
          <a:prstGeom prst="rect">
            <a:avLst/>
          </a:prstGeom>
          <a:noFill/>
          <a:ln/>
        </p:spPr>
        <p:txBody>
          <a:bodyPr wrap="square" lIns="0" tIns="0" rIns="0" bIns="0" rtlCol="0" anchor="ctr"/>
          <a:lstStyle/>
          <a:p>
            <a:pPr indent="0" marL="0">
              <a:buNone/>
            </a:pPr>
            <a:r>
              <a:rPr lang="en-US" sz="6600" b="1" dirty="0">
                <a:solidFill>
                  <a:srgbClr val="15803D"/>
                </a:solidFill>
                <a:latin typeface="Arial" pitchFamily="34" charset="0"/>
                <a:ea typeface="Arial" pitchFamily="34" charset="-122"/>
                <a:cs typeface="Arial" pitchFamily="34" charset="-120"/>
              </a:rPr>
              <a:t>3.3×</a:t>
            </a:r>
            <a:endParaRPr lang="en-US" sz="6600" dirty="0"/>
          </a:p>
        </p:txBody>
      </p:sp>
      <p:sp>
        <p:nvSpPr>
          <p:cNvPr id="20" name="Text 18"/>
          <p:cNvSpPr/>
          <p:nvPr/>
        </p:nvSpPr>
        <p:spPr>
          <a:xfrm>
            <a:off x="7772400" y="3218688"/>
            <a:ext cx="356616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higher NOx in the 6–9 PM window than overnight</a:t>
            </a:r>
            <a:endParaRPr lang="en-US" sz="1400" dirty="0"/>
          </a:p>
        </p:txBody>
      </p:sp>
      <p:sp>
        <p:nvSpPr>
          <p:cNvPr id="21" name="Shape 19"/>
          <p:cNvSpPr/>
          <p:nvPr/>
        </p:nvSpPr>
        <p:spPr>
          <a:xfrm>
            <a:off x="7772400" y="3877056"/>
            <a:ext cx="3520440" cy="0"/>
          </a:xfrm>
          <a:prstGeom prst="line">
            <a:avLst/>
          </a:prstGeom>
          <a:noFill/>
          <a:ln w="12700">
            <a:solidFill>
              <a:srgbClr val="DCEBE2"/>
            </a:solidFill>
            <a:prstDash val="solid"/>
          </a:ln>
        </p:spPr>
      </p:sp>
      <p:sp>
        <p:nvSpPr>
          <p:cNvPr id="22" name="Text 20"/>
          <p:cNvSpPr/>
          <p:nvPr/>
        </p:nvSpPr>
        <p:spPr>
          <a:xfrm>
            <a:off x="7772400" y="4023360"/>
            <a:ext cx="3566160" cy="2743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175.1 ppb</a:t>
            </a:r>
            <a:pPr indent="0" marL="0">
              <a:buNone/>
            </a:pPr>
            <a:r>
              <a:rPr lang="en-US" sz="1250" dirty="0">
                <a:solidFill>
                  <a:srgbClr val="6B7280"/>
                </a:solidFill>
                <a:latin typeface="Calibri" pitchFamily="34" charset="0"/>
                <a:ea typeface="Calibri" pitchFamily="34" charset="-122"/>
                <a:cs typeface="Calibri" pitchFamily="34" charset="-120"/>
              </a:rPr>
              <a:t>  evening mean (18:00–21:00)</a:t>
            </a:r>
            <a:endParaRPr lang="en-US" sz="1250" dirty="0"/>
          </a:p>
        </p:txBody>
      </p:sp>
      <p:sp>
        <p:nvSpPr>
          <p:cNvPr id="23" name="Text 21"/>
          <p:cNvSpPr/>
          <p:nvPr/>
        </p:nvSpPr>
        <p:spPr>
          <a:xfrm>
            <a:off x="7772400" y="4352544"/>
            <a:ext cx="3566160" cy="2743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53.3 ppb</a:t>
            </a:r>
            <a:pPr indent="0" marL="0">
              <a:buNone/>
            </a:pPr>
            <a:r>
              <a:rPr lang="en-US" sz="1250" dirty="0">
                <a:solidFill>
                  <a:srgbClr val="6B7280"/>
                </a:solidFill>
                <a:latin typeface="Calibri" pitchFamily="34" charset="0"/>
                <a:ea typeface="Calibri" pitchFamily="34" charset="-122"/>
                <a:cs typeface="Calibri" pitchFamily="34" charset="-120"/>
              </a:rPr>
              <a:t>  overnight mean (03:00–06:00)</a:t>
            </a:r>
            <a:endParaRPr lang="en-US" sz="1250" dirty="0"/>
          </a:p>
        </p:txBody>
      </p:sp>
      <p:sp>
        <p:nvSpPr>
          <p:cNvPr id="24" name="Text 22"/>
          <p:cNvSpPr/>
          <p:nvPr/>
        </p:nvSpPr>
        <p:spPr>
          <a:xfrm>
            <a:off x="7772400" y="4681728"/>
            <a:ext cx="3566160" cy="3657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Computed live from 2,000 hourly readings — never hardcoded.</a:t>
            </a:r>
            <a:endParaRPr lang="en-US" sz="1100" dirty="0"/>
          </a:p>
        </p:txBody>
      </p:sp>
      <p:sp>
        <p:nvSpPr>
          <p:cNvPr id="25" name="Text 23"/>
          <p:cNvSpPr/>
          <p:nvPr/>
        </p:nvSpPr>
        <p:spPr>
          <a:xfrm>
            <a:off x="566928" y="5376672"/>
            <a:ext cx="11064240" cy="384048"/>
          </a:xfrm>
          <a:prstGeom prst="rect">
            <a:avLst/>
          </a:prstGeom>
          <a:noFill/>
          <a:ln/>
        </p:spPr>
        <p:txBody>
          <a:bodyPr wrap="square" lIns="0" tIns="0" rIns="0" bIns="0" rtlCol="0" anchor="ctr"/>
          <a:lstStyle/>
          <a:p>
            <a:pPr indent="0" marL="0">
              <a:buNone/>
            </a:pPr>
            <a:r>
              <a:rPr lang="en-US" sz="1400" b="1" dirty="0">
                <a:solidFill>
                  <a:srgbClr val="15803D"/>
                </a:solidFill>
                <a:latin typeface="Calibri" pitchFamily="34" charset="0"/>
                <a:ea typeface="Calibri" pitchFamily="34" charset="-122"/>
                <a:cs typeface="Calibri" pitchFamily="34" charset="-120"/>
              </a:rPr>
              <a:t>Pollution here is not random noise. It is a daily cycle that tracks traffic — which is exactly what makes it forecastable.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300" b="1" dirty="0">
                <a:solidFill>
                  <a:srgbClr val="1F2937"/>
                </a:solidFill>
                <a:latin typeface="Arial" pitchFamily="34" charset="0"/>
                <a:ea typeface="Arial" pitchFamily="34" charset="-122"/>
                <a:cs typeface="Arial" pitchFamily="34" charset="-120"/>
              </a:rPr>
              <a:t>What the data actually says</a:t>
            </a:r>
            <a:endParaRPr lang="en-US" sz="33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UCI Air Quality Data Set (De Vito et al., 2008) — 2,000 contiguous hourly readings.</a:t>
            </a:r>
            <a:endParaRPr lang="en-US" sz="1450" dirty="0"/>
          </a:p>
        </p:txBody>
      </p:sp>
      <p:graphicFrame>
        <p:nvGraphicFramePr>
          <p:cNvPr id="4" name="Chart 0" descr=""/>
          <p:cNvGraphicFramePr/>
          <p:nvPr/>
        </p:nvGraphicFramePr>
        <p:xfrm>
          <a:off x="566928" y="1481328"/>
          <a:ext cx="7360920" cy="3310128"/>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4828032"/>
            <a:ext cx="7360920" cy="31089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Bars use the same risk bands as the app: green below 100 ppb, amber 100–200, orange above 200. Two peaks are visible — the morning rush and the 6–9 PM window (hours 18–21).</a:t>
            </a:r>
            <a:endParaRPr lang="en-US" sz="1100" dirty="0"/>
          </a:p>
        </p:txBody>
      </p:sp>
      <p:sp>
        <p:nvSpPr>
          <p:cNvPr id="6" name="Shape 3"/>
          <p:cNvSpPr/>
          <p:nvPr/>
        </p:nvSpPr>
        <p:spPr>
          <a:xfrm>
            <a:off x="8229600" y="1481328"/>
            <a:ext cx="3401568" cy="3639312"/>
          </a:xfrm>
          <a:prstGeom prst="roundRect">
            <a:avLst>
              <a:gd name="adj" fmla="val 2419"/>
            </a:avLst>
          </a:prstGeom>
          <a:solidFill>
            <a:srgbClr val="FFFFFF"/>
          </a:solidFill>
          <a:ln w="12700">
            <a:solidFill>
              <a:srgbClr val="E5E7EB"/>
            </a:solidFill>
            <a:prstDash val="solid"/>
          </a:ln>
        </p:spPr>
      </p:sp>
      <p:sp>
        <p:nvSpPr>
          <p:cNvPr id="7" name="Text 4"/>
          <p:cNvSpPr/>
          <p:nvPr/>
        </p:nvSpPr>
        <p:spPr>
          <a:xfrm>
            <a:off x="8503920" y="1700784"/>
            <a:ext cx="2926080" cy="256032"/>
          </a:xfrm>
          <a:prstGeom prst="rect">
            <a:avLst/>
          </a:prstGeom>
          <a:noFill/>
          <a:ln/>
        </p:spPr>
        <p:txBody>
          <a:bodyPr wrap="square" lIns="0" tIns="0" rIns="0" bIns="0" rtlCol="0" anchor="ctr"/>
          <a:lstStyle/>
          <a:p>
            <a:pPr indent="0" marL="0">
              <a:buNone/>
            </a:pPr>
            <a:r>
              <a:rPr lang="en-US" sz="1050" b="1" spc="110" kern="0" dirty="0">
                <a:solidFill>
                  <a:srgbClr val="15803D"/>
                </a:solidFill>
                <a:latin typeface="Calibri" pitchFamily="34" charset="0"/>
                <a:ea typeface="Calibri" pitchFamily="34" charset="-122"/>
                <a:cs typeface="Calibri" pitchFamily="34" charset="-120"/>
              </a:rPr>
              <a:t>HOW WE PREPARED IT</a:t>
            </a:r>
            <a:endParaRPr lang="en-US" sz="1050" dirty="0"/>
          </a:p>
        </p:txBody>
      </p:sp>
      <p:sp>
        <p:nvSpPr>
          <p:cNvPr id="8" name="Text 5"/>
          <p:cNvSpPr/>
          <p:nvPr/>
        </p:nvSpPr>
        <p:spPr>
          <a:xfrm>
            <a:off x="8503920" y="2011680"/>
            <a:ext cx="2889504" cy="14813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4B5563"/>
                </a:solidFill>
                <a:latin typeface="Calibri" pitchFamily="34" charset="0"/>
                <a:ea typeface="Calibri" pitchFamily="34" charset="-122"/>
                <a:cs typeface="Calibri" pitchFamily="34" charset="-120"/>
              </a:rPr>
              <a:t>Replaced the −200 sensor-failure sentinel with null</a:t>
            </a:r>
            <a:endParaRPr lang="en-US" sz="1200" dirty="0"/>
          </a:p>
          <a:p>
            <a:pPr marL="342900" indent="-342900">
              <a:spcAft>
                <a:spcPts val="500"/>
              </a:spcAft>
              <a:buSzPct val="100000"/>
              <a:buChar char="•"/>
            </a:pPr>
            <a:r>
              <a:rPr lang="en-US" sz="1200" dirty="0">
                <a:solidFill>
                  <a:srgbClr val="4B5563"/>
                </a:solidFill>
                <a:latin typeface="Calibri" pitchFamily="34" charset="0"/>
                <a:ea typeface="Calibri" pitchFamily="34" charset="-122"/>
                <a:cs typeface="Calibri" pitchFamily="34" charset="-120"/>
              </a:rPr>
              <a:t>Dropped rows with no target value</a:t>
            </a:r>
            <a:endParaRPr lang="en-US" sz="1200" dirty="0"/>
          </a:p>
          <a:p>
            <a:pPr marL="342900" indent="-342900">
              <a:spcAft>
                <a:spcPts val="500"/>
              </a:spcAft>
              <a:buSzPct val="100000"/>
              <a:buChar char="•"/>
            </a:pPr>
            <a:r>
              <a:rPr lang="en-US" sz="1200" dirty="0">
                <a:solidFill>
                  <a:srgbClr val="4B5563"/>
                </a:solidFill>
                <a:latin typeface="Calibri" pitchFamily="34" charset="0"/>
                <a:ea typeface="Calibri" pitchFamily="34" charset="-122"/>
                <a:cs typeface="Calibri" pitchFamily="34" charset="-120"/>
              </a:rPr>
              <a:t>Forward-fill, then median-fill, remaining gaps</a:t>
            </a:r>
            <a:endParaRPr lang="en-US" sz="1200" dirty="0"/>
          </a:p>
          <a:p>
            <a:pPr marL="342900" indent="-342900">
              <a:spcAft>
                <a:spcPts val="500"/>
              </a:spcAft>
              <a:buSzPct val="100000"/>
              <a:buChar char="•"/>
            </a:pPr>
            <a:r>
              <a:rPr lang="en-US" sz="1200" dirty="0">
                <a:solidFill>
                  <a:srgbClr val="4B5563"/>
                </a:solidFill>
                <a:latin typeface="Calibri" pitchFamily="34" charset="0"/>
                <a:ea typeface="Calibri" pitchFamily="34" charset="-122"/>
                <a:cs typeface="Calibri" pitchFamily="34" charset="-120"/>
              </a:rPr>
              <a:t>Removed duplicate timestamps</a:t>
            </a:r>
            <a:endParaRPr lang="en-US" sz="1200" dirty="0"/>
          </a:p>
          <a:p>
            <a:pPr marL="342900" indent="-342900">
              <a:spcAft>
                <a:spcPts val="500"/>
              </a:spcAft>
              <a:buSzPct val="100000"/>
              <a:buChar char="•"/>
            </a:pPr>
            <a:r>
              <a:rPr lang="en-US" sz="1200" dirty="0">
                <a:solidFill>
                  <a:srgbClr val="4B5563"/>
                </a:solidFill>
                <a:latin typeface="Calibri" pitchFamily="34" charset="0"/>
                <a:ea typeface="Calibri" pitchFamily="34" charset="-122"/>
                <a:cs typeface="Calibri" pitchFamily="34" charset="-120"/>
              </a:rPr>
              <a:t>Sorted chronologically</a:t>
            </a:r>
            <a:endParaRPr lang="en-US" sz="1200" dirty="0"/>
          </a:p>
        </p:txBody>
      </p:sp>
      <p:sp>
        <p:nvSpPr>
          <p:cNvPr id="9" name="Shape 6"/>
          <p:cNvSpPr/>
          <p:nvPr/>
        </p:nvSpPr>
        <p:spPr>
          <a:xfrm>
            <a:off x="8503920" y="3602736"/>
            <a:ext cx="2889504" cy="0"/>
          </a:xfrm>
          <a:prstGeom prst="line">
            <a:avLst/>
          </a:prstGeom>
          <a:noFill/>
          <a:ln w="12700">
            <a:solidFill>
              <a:srgbClr val="E5E7EB"/>
            </a:solidFill>
            <a:prstDash val="solid"/>
          </a:ln>
        </p:spPr>
      </p:sp>
      <p:sp>
        <p:nvSpPr>
          <p:cNvPr id="10" name="Text 7"/>
          <p:cNvSpPr/>
          <p:nvPr/>
        </p:nvSpPr>
        <p:spPr>
          <a:xfrm>
            <a:off x="8503920" y="3730752"/>
            <a:ext cx="2889504" cy="7132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This mirror was already cleaned upstream, so the sentinel pass replaced 0 values. We report that rather than claim credit for it.</a:t>
            </a:r>
            <a:endParaRPr lang="en-US" sz="1150" dirty="0"/>
          </a:p>
        </p:txBody>
      </p:sp>
      <p:sp>
        <p:nvSpPr>
          <p:cNvPr id="11" name="Text 8"/>
          <p:cNvSpPr/>
          <p:nvPr/>
        </p:nvSpPr>
        <p:spPr>
          <a:xfrm>
            <a:off x="8503920" y="4553712"/>
            <a:ext cx="2889504" cy="4572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 Mar – 23 Jun 2004  ·  hourly  ·  63 non-hourly gaps noted</a:t>
            </a:r>
            <a:endParaRPr lang="en-US" sz="1100" dirty="0"/>
          </a:p>
        </p:txBody>
      </p:sp>
      <p:sp>
        <p:nvSpPr>
          <p:cNvPr id="12" name="Text 9"/>
          <p:cNvSpPr/>
          <p:nvPr/>
        </p:nvSpPr>
        <p:spPr>
          <a:xfrm>
            <a:off x="566928" y="5394960"/>
            <a:ext cx="11064240" cy="365760"/>
          </a:xfrm>
          <a:prstGeom prst="rect">
            <a:avLst/>
          </a:prstGeom>
          <a:noFill/>
          <a:ln/>
        </p:spPr>
        <p:txBody>
          <a:bodyPr wrap="square" lIns="0" tIns="0" rIns="0" bIns="0" rtlCol="0" anchor="ctr"/>
          <a:lstStyle/>
          <a:p>
            <a:pPr indent="0" marL="0">
              <a:buNone/>
            </a:pPr>
            <a:r>
              <a:rPr lang="en-US" sz="1450" b="1" dirty="0">
                <a:solidFill>
                  <a:srgbClr val="15803D"/>
                </a:solidFill>
                <a:latin typeface="Calibri" pitchFamily="34" charset="0"/>
                <a:ea typeface="Calibri" pitchFamily="34" charset="-122"/>
                <a:cs typeface="Calibri" pitchFamily="34" charset="-120"/>
              </a:rPr>
              <a:t>Evening peak averages 3.3× overnight levels — 175.1 ppb versus 53.3 ppb.</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300" b="1" dirty="0">
                <a:solidFill>
                  <a:srgbClr val="1F2937"/>
                </a:solidFill>
                <a:latin typeface="Arial" pitchFamily="34" charset="0"/>
                <a:ea typeface="Arial" pitchFamily="34" charset="-122"/>
                <a:cs typeface="Arial" pitchFamily="34" charset="-120"/>
              </a:rPr>
              <a:t>How AirSense works</a:t>
            </a:r>
            <a:endParaRPr lang="en-US" sz="33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Time-series regression: continuous, timestamped data with a strong daily cycle.</a:t>
            </a:r>
            <a:endParaRPr lang="en-US" sz="1450" dirty="0"/>
          </a:p>
        </p:txBody>
      </p:sp>
      <p:sp>
        <p:nvSpPr>
          <p:cNvPr id="4" name="Shape 2"/>
          <p:cNvSpPr/>
          <p:nvPr/>
        </p:nvSpPr>
        <p:spPr>
          <a:xfrm>
            <a:off x="566928" y="1609344"/>
            <a:ext cx="1673352" cy="859536"/>
          </a:xfrm>
          <a:prstGeom prst="roundRect">
            <a:avLst>
              <a:gd name="adj" fmla="val 9574"/>
            </a:avLst>
          </a:prstGeom>
          <a:solidFill>
            <a:srgbClr val="EFF7F1"/>
          </a:solidFill>
          <a:ln w="12700">
            <a:solidFill>
              <a:srgbClr val="EFF7F1"/>
            </a:solidFill>
            <a:prstDash val="solid"/>
          </a:ln>
        </p:spPr>
      </p:sp>
      <p:sp>
        <p:nvSpPr>
          <p:cNvPr id="5" name="Text 3"/>
          <p:cNvSpPr/>
          <p:nvPr/>
        </p:nvSpPr>
        <p:spPr>
          <a:xfrm>
            <a:off x="566928" y="1609344"/>
            <a:ext cx="1673352" cy="859536"/>
          </a:xfrm>
          <a:prstGeom prst="rect">
            <a:avLst/>
          </a:prstGeom>
          <a:noFill/>
          <a:ln/>
        </p:spPr>
        <p:txBody>
          <a:bodyPr wrap="square" lIns="0" tIns="0" rIns="0" bIns="0" rtlCol="0" anchor="ctr"/>
          <a:lstStyle/>
          <a:p>
            <a:pPr algn="ctr" indent="0" marL="0">
              <a:buNone/>
            </a:pPr>
            <a:r>
              <a:rPr lang="en-US" sz="1450" b="1" dirty="0">
                <a:solidFill>
                  <a:srgbClr val="15803D"/>
                </a:solidFill>
                <a:latin typeface="Calibri" pitchFamily="34" charset="0"/>
                <a:ea typeface="Calibri" pitchFamily="34" charset="-122"/>
                <a:cs typeface="Calibri" pitchFamily="34" charset="-120"/>
              </a:rPr>
              <a:t>Data</a:t>
            </a:r>
            <a:endParaRPr lang="en-US" sz="1450" dirty="0"/>
          </a:p>
        </p:txBody>
      </p:sp>
      <p:sp>
        <p:nvSpPr>
          <p:cNvPr id="6" name="Shape 4"/>
          <p:cNvSpPr/>
          <p:nvPr/>
        </p:nvSpPr>
        <p:spPr>
          <a:xfrm>
            <a:off x="2276856" y="2039112"/>
            <a:ext cx="118872" cy="0"/>
          </a:xfrm>
          <a:prstGeom prst="line">
            <a:avLst/>
          </a:prstGeom>
          <a:noFill/>
          <a:ln w="19050">
            <a:solidFill>
              <a:srgbClr val="15803D"/>
            </a:solidFill>
            <a:prstDash val="solid"/>
            <a:tailEnd type="triangle"/>
          </a:ln>
        </p:spPr>
      </p:sp>
      <p:sp>
        <p:nvSpPr>
          <p:cNvPr id="7" name="Shape 5"/>
          <p:cNvSpPr/>
          <p:nvPr/>
        </p:nvSpPr>
        <p:spPr>
          <a:xfrm>
            <a:off x="2432304" y="1609344"/>
            <a:ext cx="1673352" cy="859536"/>
          </a:xfrm>
          <a:prstGeom prst="roundRect">
            <a:avLst>
              <a:gd name="adj" fmla="val 9574"/>
            </a:avLst>
          </a:prstGeom>
          <a:solidFill>
            <a:srgbClr val="EFF7F1"/>
          </a:solidFill>
          <a:ln w="12700">
            <a:solidFill>
              <a:srgbClr val="EFF7F1"/>
            </a:solidFill>
            <a:prstDash val="solid"/>
          </a:ln>
        </p:spPr>
      </p:sp>
      <p:sp>
        <p:nvSpPr>
          <p:cNvPr id="8" name="Text 6"/>
          <p:cNvSpPr/>
          <p:nvPr/>
        </p:nvSpPr>
        <p:spPr>
          <a:xfrm>
            <a:off x="2432304" y="1609344"/>
            <a:ext cx="1673352" cy="859536"/>
          </a:xfrm>
          <a:prstGeom prst="rect">
            <a:avLst/>
          </a:prstGeom>
          <a:noFill/>
          <a:ln/>
        </p:spPr>
        <p:txBody>
          <a:bodyPr wrap="square" lIns="0" tIns="0" rIns="0" bIns="0" rtlCol="0" anchor="ctr"/>
          <a:lstStyle/>
          <a:p>
            <a:pPr algn="ctr" indent="0" marL="0">
              <a:buNone/>
            </a:pPr>
            <a:r>
              <a:rPr lang="en-US" sz="1450" b="1" dirty="0">
                <a:solidFill>
                  <a:srgbClr val="15803D"/>
                </a:solidFill>
                <a:latin typeface="Calibri" pitchFamily="34" charset="0"/>
                <a:ea typeface="Calibri" pitchFamily="34" charset="-122"/>
                <a:cs typeface="Calibri" pitchFamily="34" charset="-120"/>
              </a:rPr>
              <a:t>Cleaning</a:t>
            </a:r>
            <a:endParaRPr lang="en-US" sz="1450" dirty="0"/>
          </a:p>
        </p:txBody>
      </p:sp>
      <p:sp>
        <p:nvSpPr>
          <p:cNvPr id="9" name="Shape 7"/>
          <p:cNvSpPr/>
          <p:nvPr/>
        </p:nvSpPr>
        <p:spPr>
          <a:xfrm>
            <a:off x="4142232" y="2039112"/>
            <a:ext cx="118872" cy="0"/>
          </a:xfrm>
          <a:prstGeom prst="line">
            <a:avLst/>
          </a:prstGeom>
          <a:noFill/>
          <a:ln w="19050">
            <a:solidFill>
              <a:srgbClr val="15803D"/>
            </a:solidFill>
            <a:prstDash val="solid"/>
            <a:tailEnd type="triangle"/>
          </a:ln>
        </p:spPr>
      </p:sp>
      <p:sp>
        <p:nvSpPr>
          <p:cNvPr id="10" name="Shape 8"/>
          <p:cNvSpPr/>
          <p:nvPr/>
        </p:nvSpPr>
        <p:spPr>
          <a:xfrm>
            <a:off x="4297680" y="1609344"/>
            <a:ext cx="1673352" cy="859536"/>
          </a:xfrm>
          <a:prstGeom prst="roundRect">
            <a:avLst>
              <a:gd name="adj" fmla="val 9574"/>
            </a:avLst>
          </a:prstGeom>
          <a:solidFill>
            <a:srgbClr val="EFF7F1"/>
          </a:solidFill>
          <a:ln w="12700">
            <a:solidFill>
              <a:srgbClr val="EFF7F1"/>
            </a:solidFill>
            <a:prstDash val="solid"/>
          </a:ln>
        </p:spPr>
      </p:sp>
      <p:sp>
        <p:nvSpPr>
          <p:cNvPr id="11" name="Text 9"/>
          <p:cNvSpPr/>
          <p:nvPr/>
        </p:nvSpPr>
        <p:spPr>
          <a:xfrm>
            <a:off x="4297680" y="1609344"/>
            <a:ext cx="1673352" cy="859536"/>
          </a:xfrm>
          <a:prstGeom prst="rect">
            <a:avLst/>
          </a:prstGeom>
          <a:noFill/>
          <a:ln/>
        </p:spPr>
        <p:txBody>
          <a:bodyPr wrap="square" lIns="0" tIns="0" rIns="0" bIns="0" rtlCol="0" anchor="ctr"/>
          <a:lstStyle/>
          <a:p>
            <a:pPr algn="ctr" indent="0" marL="0">
              <a:buNone/>
            </a:pPr>
            <a:r>
              <a:rPr lang="en-US" sz="1450" b="1" dirty="0">
                <a:solidFill>
                  <a:srgbClr val="15803D"/>
                </a:solidFill>
                <a:latin typeface="Calibri" pitchFamily="34" charset="0"/>
                <a:ea typeface="Calibri" pitchFamily="34" charset="-122"/>
                <a:cs typeface="Calibri" pitchFamily="34" charset="-120"/>
              </a:rPr>
              <a:t>Features</a:t>
            </a:r>
            <a:endParaRPr lang="en-US" sz="1450" dirty="0"/>
          </a:p>
        </p:txBody>
      </p:sp>
      <p:sp>
        <p:nvSpPr>
          <p:cNvPr id="12" name="Shape 10"/>
          <p:cNvSpPr/>
          <p:nvPr/>
        </p:nvSpPr>
        <p:spPr>
          <a:xfrm>
            <a:off x="6007608" y="2039112"/>
            <a:ext cx="118872" cy="0"/>
          </a:xfrm>
          <a:prstGeom prst="line">
            <a:avLst/>
          </a:prstGeom>
          <a:noFill/>
          <a:ln w="19050">
            <a:solidFill>
              <a:srgbClr val="15803D"/>
            </a:solidFill>
            <a:prstDash val="solid"/>
            <a:tailEnd type="triangle"/>
          </a:ln>
        </p:spPr>
      </p:sp>
      <p:sp>
        <p:nvSpPr>
          <p:cNvPr id="13" name="Shape 11"/>
          <p:cNvSpPr/>
          <p:nvPr/>
        </p:nvSpPr>
        <p:spPr>
          <a:xfrm>
            <a:off x="6163056" y="1609344"/>
            <a:ext cx="1673352" cy="859536"/>
          </a:xfrm>
          <a:prstGeom prst="roundRect">
            <a:avLst>
              <a:gd name="adj" fmla="val 9574"/>
            </a:avLst>
          </a:prstGeom>
          <a:solidFill>
            <a:srgbClr val="EFF7F1"/>
          </a:solidFill>
          <a:ln w="12700">
            <a:solidFill>
              <a:srgbClr val="EFF7F1"/>
            </a:solidFill>
            <a:prstDash val="solid"/>
          </a:ln>
        </p:spPr>
      </p:sp>
      <p:sp>
        <p:nvSpPr>
          <p:cNvPr id="14" name="Text 12"/>
          <p:cNvSpPr/>
          <p:nvPr/>
        </p:nvSpPr>
        <p:spPr>
          <a:xfrm>
            <a:off x="6163056" y="1609344"/>
            <a:ext cx="1673352" cy="859536"/>
          </a:xfrm>
          <a:prstGeom prst="rect">
            <a:avLst/>
          </a:prstGeom>
          <a:noFill/>
          <a:ln/>
        </p:spPr>
        <p:txBody>
          <a:bodyPr wrap="square" lIns="0" tIns="0" rIns="0" bIns="0" rtlCol="0" anchor="ctr"/>
          <a:lstStyle/>
          <a:p>
            <a:pPr algn="ctr" indent="0" marL="0">
              <a:buNone/>
            </a:pPr>
            <a:r>
              <a:rPr lang="en-US" sz="1450" b="1" dirty="0">
                <a:solidFill>
                  <a:srgbClr val="15803D"/>
                </a:solidFill>
                <a:latin typeface="Calibri" pitchFamily="34" charset="0"/>
                <a:ea typeface="Calibri" pitchFamily="34" charset="-122"/>
                <a:cs typeface="Calibri" pitchFamily="34" charset="-120"/>
              </a:rPr>
              <a:t>Model</a:t>
            </a:r>
            <a:endParaRPr lang="en-US" sz="1450" dirty="0"/>
          </a:p>
        </p:txBody>
      </p:sp>
      <p:sp>
        <p:nvSpPr>
          <p:cNvPr id="15" name="Shape 13"/>
          <p:cNvSpPr/>
          <p:nvPr/>
        </p:nvSpPr>
        <p:spPr>
          <a:xfrm>
            <a:off x="7872984" y="2039112"/>
            <a:ext cx="118872" cy="0"/>
          </a:xfrm>
          <a:prstGeom prst="line">
            <a:avLst/>
          </a:prstGeom>
          <a:noFill/>
          <a:ln w="19050">
            <a:solidFill>
              <a:srgbClr val="15803D"/>
            </a:solidFill>
            <a:prstDash val="solid"/>
            <a:tailEnd type="triangle"/>
          </a:ln>
        </p:spPr>
      </p:sp>
      <p:sp>
        <p:nvSpPr>
          <p:cNvPr id="16" name="Shape 14"/>
          <p:cNvSpPr/>
          <p:nvPr/>
        </p:nvSpPr>
        <p:spPr>
          <a:xfrm>
            <a:off x="8028432" y="1609344"/>
            <a:ext cx="1673352" cy="859536"/>
          </a:xfrm>
          <a:prstGeom prst="roundRect">
            <a:avLst>
              <a:gd name="adj" fmla="val 9574"/>
            </a:avLst>
          </a:prstGeom>
          <a:solidFill>
            <a:srgbClr val="EFF7F1"/>
          </a:solidFill>
          <a:ln w="12700">
            <a:solidFill>
              <a:srgbClr val="EFF7F1"/>
            </a:solidFill>
            <a:prstDash val="solid"/>
          </a:ln>
        </p:spPr>
      </p:sp>
      <p:sp>
        <p:nvSpPr>
          <p:cNvPr id="17" name="Text 15"/>
          <p:cNvSpPr/>
          <p:nvPr/>
        </p:nvSpPr>
        <p:spPr>
          <a:xfrm>
            <a:off x="8028432" y="1609344"/>
            <a:ext cx="1673352" cy="859536"/>
          </a:xfrm>
          <a:prstGeom prst="rect">
            <a:avLst/>
          </a:prstGeom>
          <a:noFill/>
          <a:ln/>
        </p:spPr>
        <p:txBody>
          <a:bodyPr wrap="square" lIns="0" tIns="0" rIns="0" bIns="0" rtlCol="0" anchor="ctr"/>
          <a:lstStyle/>
          <a:p>
            <a:pPr algn="ctr" indent="0" marL="0">
              <a:buNone/>
            </a:pPr>
            <a:r>
              <a:rPr lang="en-US" sz="1450" b="1" dirty="0">
                <a:solidFill>
                  <a:srgbClr val="15803D"/>
                </a:solidFill>
                <a:latin typeface="Calibri" pitchFamily="34" charset="0"/>
                <a:ea typeface="Calibri" pitchFamily="34" charset="-122"/>
                <a:cs typeface="Calibri" pitchFamily="34" charset="-120"/>
              </a:rPr>
              <a:t>Forecast</a:t>
            </a:r>
            <a:endParaRPr lang="en-US" sz="1450" dirty="0"/>
          </a:p>
        </p:txBody>
      </p:sp>
      <p:sp>
        <p:nvSpPr>
          <p:cNvPr id="18" name="Shape 16"/>
          <p:cNvSpPr/>
          <p:nvPr/>
        </p:nvSpPr>
        <p:spPr>
          <a:xfrm>
            <a:off x="9738360" y="2039112"/>
            <a:ext cx="118872" cy="0"/>
          </a:xfrm>
          <a:prstGeom prst="line">
            <a:avLst/>
          </a:prstGeom>
          <a:noFill/>
          <a:ln w="19050">
            <a:solidFill>
              <a:srgbClr val="15803D"/>
            </a:solidFill>
            <a:prstDash val="solid"/>
            <a:tailEnd type="triangle"/>
          </a:ln>
        </p:spPr>
      </p:sp>
      <p:sp>
        <p:nvSpPr>
          <p:cNvPr id="19" name="Shape 17"/>
          <p:cNvSpPr/>
          <p:nvPr/>
        </p:nvSpPr>
        <p:spPr>
          <a:xfrm>
            <a:off x="9893808" y="1609344"/>
            <a:ext cx="1673352" cy="859536"/>
          </a:xfrm>
          <a:prstGeom prst="roundRect">
            <a:avLst>
              <a:gd name="adj" fmla="val 9574"/>
            </a:avLst>
          </a:prstGeom>
          <a:solidFill>
            <a:srgbClr val="15803D"/>
          </a:solidFill>
          <a:ln w="12700">
            <a:solidFill>
              <a:srgbClr val="15803D"/>
            </a:solidFill>
            <a:prstDash val="solid"/>
          </a:ln>
        </p:spPr>
      </p:sp>
      <p:sp>
        <p:nvSpPr>
          <p:cNvPr id="20" name="Text 18"/>
          <p:cNvSpPr/>
          <p:nvPr/>
        </p:nvSpPr>
        <p:spPr>
          <a:xfrm>
            <a:off x="9893808" y="1609344"/>
            <a:ext cx="1673352" cy="859536"/>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Action</a:t>
            </a:r>
            <a:endParaRPr lang="en-US" sz="1450" dirty="0"/>
          </a:p>
        </p:txBody>
      </p:sp>
      <p:sp>
        <p:nvSpPr>
          <p:cNvPr id="21" name="Shape 19"/>
          <p:cNvSpPr/>
          <p:nvPr/>
        </p:nvSpPr>
        <p:spPr>
          <a:xfrm>
            <a:off x="566928" y="2889504"/>
            <a:ext cx="384048" cy="384048"/>
          </a:xfrm>
          <a:prstGeom prst="ellipse">
            <a:avLst/>
          </a:prstGeom>
          <a:solidFill>
            <a:srgbClr val="15803D"/>
          </a:solidFill>
          <a:ln/>
        </p:spPr>
      </p:sp>
      <p:sp>
        <p:nvSpPr>
          <p:cNvPr id="22" name="Text 20"/>
          <p:cNvSpPr/>
          <p:nvPr/>
        </p:nvSpPr>
        <p:spPr>
          <a:xfrm>
            <a:off x="566928" y="2889504"/>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23" name="Text 21"/>
          <p:cNvSpPr/>
          <p:nvPr/>
        </p:nvSpPr>
        <p:spPr>
          <a:xfrm>
            <a:off x="1133856" y="2843784"/>
            <a:ext cx="630936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Gradient boosting, not an LSTM</a:t>
            </a:r>
            <a:endParaRPr lang="en-US" sz="1400" dirty="0"/>
          </a:p>
        </p:txBody>
      </p:sp>
      <p:sp>
        <p:nvSpPr>
          <p:cNvPr id="24" name="Text 22"/>
          <p:cNvSpPr/>
          <p:nvPr/>
        </p:nvSpPr>
        <p:spPr>
          <a:xfrm>
            <a:off x="1133856" y="3108960"/>
            <a:ext cx="6309360" cy="512064"/>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About 2,000 rows of tabular lagged features. It trains in seconds and its feature importances are directly inspectable — a deliberate trade-off, not a shortcut.</a:t>
            </a:r>
            <a:endParaRPr lang="en-US" sz="1200" dirty="0"/>
          </a:p>
        </p:txBody>
      </p:sp>
      <p:sp>
        <p:nvSpPr>
          <p:cNvPr id="25" name="Shape 23"/>
          <p:cNvSpPr/>
          <p:nvPr/>
        </p:nvSpPr>
        <p:spPr>
          <a:xfrm>
            <a:off x="566928" y="3730752"/>
            <a:ext cx="384048" cy="384048"/>
          </a:xfrm>
          <a:prstGeom prst="ellipse">
            <a:avLst/>
          </a:prstGeom>
          <a:solidFill>
            <a:srgbClr val="15803D"/>
          </a:solidFill>
          <a:ln/>
        </p:spPr>
      </p:sp>
      <p:sp>
        <p:nvSpPr>
          <p:cNvPr id="26" name="Text 24"/>
          <p:cNvSpPr/>
          <p:nvPr/>
        </p:nvSpPr>
        <p:spPr>
          <a:xfrm>
            <a:off x="566928" y="3730752"/>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27" name="Text 25"/>
          <p:cNvSpPr/>
          <p:nvPr/>
        </p:nvSpPr>
        <p:spPr>
          <a:xfrm>
            <a:off x="1133856" y="3685032"/>
            <a:ext cx="630936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Every feature is lagged</a:t>
            </a:r>
            <a:endParaRPr lang="en-US" sz="1400" dirty="0"/>
          </a:p>
        </p:txBody>
      </p:sp>
      <p:sp>
        <p:nvSpPr>
          <p:cNvPr id="28" name="Text 26"/>
          <p:cNvSpPr/>
          <p:nvPr/>
        </p:nvSpPr>
        <p:spPr>
          <a:xfrm>
            <a:off x="1133856" y="3950208"/>
            <a:ext cx="6309360" cy="512064"/>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 and NOx correlate at 0.94 here. Using same-hour co-pollutants would be nowcasting dressed as forecasting, so weather and co-pollutants are lagged by one hour.</a:t>
            </a:r>
            <a:endParaRPr lang="en-US" sz="1200" dirty="0"/>
          </a:p>
        </p:txBody>
      </p:sp>
      <p:sp>
        <p:nvSpPr>
          <p:cNvPr id="29" name="Shape 27"/>
          <p:cNvSpPr/>
          <p:nvPr/>
        </p:nvSpPr>
        <p:spPr>
          <a:xfrm>
            <a:off x="566928" y="4572000"/>
            <a:ext cx="384048" cy="384048"/>
          </a:xfrm>
          <a:prstGeom prst="ellipse">
            <a:avLst/>
          </a:prstGeom>
          <a:solidFill>
            <a:srgbClr val="15803D"/>
          </a:solidFill>
          <a:ln/>
        </p:spPr>
      </p:sp>
      <p:sp>
        <p:nvSpPr>
          <p:cNvPr id="30" name="Text 28"/>
          <p:cNvSpPr/>
          <p:nvPr/>
        </p:nvSpPr>
        <p:spPr>
          <a:xfrm>
            <a:off x="566928" y="4572000"/>
            <a:ext cx="38404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31" name="Text 29"/>
          <p:cNvSpPr/>
          <p:nvPr/>
        </p:nvSpPr>
        <p:spPr>
          <a:xfrm>
            <a:off x="1133856" y="4526280"/>
            <a:ext cx="630936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One shared feature module</a:t>
            </a:r>
            <a:endParaRPr lang="en-US" sz="1400" dirty="0"/>
          </a:p>
        </p:txBody>
      </p:sp>
      <p:sp>
        <p:nvSpPr>
          <p:cNvPr id="32" name="Text 30"/>
          <p:cNvSpPr/>
          <p:nvPr/>
        </p:nvSpPr>
        <p:spPr>
          <a:xfrm>
            <a:off x="1133856" y="4791456"/>
            <a:ext cx="6309360" cy="512064"/>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app/features.py is imported by both training and serving, so the two cannot silently drift apart — the classic way a forecasting project breaks.</a:t>
            </a:r>
            <a:endParaRPr lang="en-US" sz="1200" dirty="0"/>
          </a:p>
        </p:txBody>
      </p:sp>
      <p:sp>
        <p:nvSpPr>
          <p:cNvPr id="33" name="Shape 31"/>
          <p:cNvSpPr/>
          <p:nvPr/>
        </p:nvSpPr>
        <p:spPr>
          <a:xfrm>
            <a:off x="8092440" y="2889504"/>
            <a:ext cx="3538728" cy="2377440"/>
          </a:xfrm>
          <a:prstGeom prst="roundRect">
            <a:avLst>
              <a:gd name="adj" fmla="val 3462"/>
            </a:avLst>
          </a:prstGeom>
          <a:solidFill>
            <a:srgbClr val="EFF7F1"/>
          </a:solidFill>
          <a:ln w="12700">
            <a:solidFill>
              <a:srgbClr val="EFF7F1"/>
            </a:solidFill>
            <a:prstDash val="solid"/>
          </a:ln>
        </p:spPr>
      </p:sp>
      <p:sp>
        <p:nvSpPr>
          <p:cNvPr id="34" name="Text 32"/>
          <p:cNvSpPr/>
          <p:nvPr/>
        </p:nvSpPr>
        <p:spPr>
          <a:xfrm>
            <a:off x="8366760" y="3090672"/>
            <a:ext cx="3017520" cy="256032"/>
          </a:xfrm>
          <a:prstGeom prst="rect">
            <a:avLst/>
          </a:prstGeom>
          <a:noFill/>
          <a:ln/>
        </p:spPr>
        <p:txBody>
          <a:bodyPr wrap="square" lIns="0" tIns="0" rIns="0" bIns="0" rtlCol="0" anchor="ctr"/>
          <a:lstStyle/>
          <a:p>
            <a:pPr indent="0" marL="0">
              <a:buNone/>
            </a:pPr>
            <a:r>
              <a:rPr lang="en-US" sz="1050" b="1" spc="110" kern="0" dirty="0">
                <a:solidFill>
                  <a:srgbClr val="15803D"/>
                </a:solidFill>
                <a:latin typeface="Calibri" pitchFamily="34" charset="0"/>
                <a:ea typeface="Calibri" pitchFamily="34" charset="-122"/>
                <a:cs typeface="Calibri" pitchFamily="34" charset="-120"/>
              </a:rPr>
              <a:t>BUILT WITH</a:t>
            </a:r>
            <a:endParaRPr lang="en-US" sz="1050" dirty="0"/>
          </a:p>
        </p:txBody>
      </p:sp>
      <p:sp>
        <p:nvSpPr>
          <p:cNvPr id="35" name="Text 33"/>
          <p:cNvSpPr/>
          <p:nvPr/>
        </p:nvSpPr>
        <p:spPr>
          <a:xfrm>
            <a:off x="8366760" y="3401568"/>
            <a:ext cx="3017520" cy="1371600"/>
          </a:xfrm>
          <a:prstGeom prst="rect">
            <a:avLst/>
          </a:prstGeom>
          <a:noFill/>
          <a:ln/>
        </p:spPr>
        <p:txBody>
          <a:bodyPr wrap="square" lIns="0" tIns="0" rIns="0" bIns="0" rtlCol="0" anchor="t"/>
          <a:lstStyle/>
          <a:p>
            <a:pPr indent="0" marL="0">
              <a:spcAft>
                <a:spcPts val="500"/>
              </a:spcAft>
              <a:buNone/>
            </a:pPr>
            <a:r>
              <a:rPr lang="en-US" sz="1250" dirty="0">
                <a:solidFill>
                  <a:srgbClr val="4B5563"/>
                </a:solidFill>
                <a:latin typeface="Calibri" pitchFamily="34" charset="0"/>
                <a:ea typeface="Calibri" pitchFamily="34" charset="-122"/>
                <a:cs typeface="Calibri" pitchFamily="34" charset="-120"/>
              </a:rPr>
              <a:t>Python · scikit-learn · pandas</a:t>
            </a:r>
            <a:endParaRPr lang="en-US" sz="1250" dirty="0"/>
          </a:p>
          <a:p>
            <a:pPr indent="0" marL="0">
              <a:spcAft>
                <a:spcPts val="500"/>
              </a:spcAft>
              <a:buNone/>
            </a:pPr>
            <a:r>
              <a:rPr lang="en-US" sz="1250" dirty="0">
                <a:solidFill>
                  <a:srgbClr val="4B5563"/>
                </a:solidFill>
                <a:latin typeface="Calibri" pitchFamily="34" charset="0"/>
                <a:ea typeface="Calibri" pitchFamily="34" charset="-122"/>
                <a:cs typeface="Calibri" pitchFamily="34" charset="-120"/>
              </a:rPr>
              <a:t>FastAPI · Uvicorn</a:t>
            </a:r>
            <a:endParaRPr lang="en-US" sz="1250" dirty="0"/>
          </a:p>
          <a:p>
            <a:pPr indent="0" marL="0">
              <a:spcAft>
                <a:spcPts val="500"/>
              </a:spcAft>
              <a:buNone/>
            </a:pPr>
            <a:r>
              <a:rPr lang="en-US" sz="1250" dirty="0">
                <a:solidFill>
                  <a:srgbClr val="4B5563"/>
                </a:solidFill>
                <a:latin typeface="Calibri" pitchFamily="34" charset="0"/>
                <a:ea typeface="Calibri" pitchFamily="34" charset="-122"/>
                <a:cs typeface="Calibri" pitchFamily="34" charset="-120"/>
              </a:rPr>
              <a:t>Chart.js · Tailwind CSS</a:t>
            </a:r>
            <a:endParaRPr lang="en-US" sz="1250" dirty="0"/>
          </a:p>
          <a:p>
            <a:pPr indent="0" marL="0">
              <a:spcAft>
                <a:spcPts val="500"/>
              </a:spcAft>
              <a:buNone/>
            </a:pPr>
            <a:r>
              <a:rPr lang="en-US" sz="1250" dirty="0">
                <a:solidFill>
                  <a:srgbClr val="4B5563"/>
                </a:solidFill>
                <a:latin typeface="Calibri" pitchFamily="34" charset="0"/>
                <a:ea typeface="Calibri" pitchFamily="34" charset="-122"/>
                <a:cs typeface="Calibri" pitchFamily="34" charset="-120"/>
              </a:rPr>
              <a:t>Docker · Google Cloud Run</a:t>
            </a:r>
            <a:endParaRPr lang="en-US" sz="1250" dirty="0"/>
          </a:p>
          <a:p>
            <a:pPr indent="0" marL="0">
              <a:spcAft>
                <a:spcPts val="500"/>
              </a:spcAft>
              <a:buNone/>
            </a:pPr>
            <a:r>
              <a:rPr lang="en-US" sz="1250" dirty="0">
                <a:solidFill>
                  <a:srgbClr val="4B5563"/>
                </a:solidFill>
                <a:latin typeface="Calibri" pitchFamily="34" charset="0"/>
                <a:ea typeface="Calibri" pitchFamily="34" charset="-122"/>
                <a:cs typeface="Calibri" pitchFamily="34" charset="-120"/>
              </a:rPr>
              <a:t>Claude Code (AI assistance)</a:t>
            </a:r>
            <a:endParaRPr lang="en-US" sz="1250" dirty="0"/>
          </a:p>
        </p:txBody>
      </p:sp>
      <p:sp>
        <p:nvSpPr>
          <p:cNvPr id="36" name="Text 34"/>
          <p:cNvSpPr/>
          <p:nvPr/>
        </p:nvSpPr>
        <p:spPr>
          <a:xfrm>
            <a:off x="8366760" y="4809744"/>
            <a:ext cx="3017520" cy="329184"/>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One Cloud Run service serves the API and the UI.</a:t>
            </a:r>
            <a:endParaRPr lang="en-US" sz="1100" dirty="0"/>
          </a:p>
        </p:txBody>
      </p:sp>
      <p:sp>
        <p:nvSpPr>
          <p:cNvPr id="37" name="Text 35"/>
          <p:cNvSpPr/>
          <p:nvPr/>
        </p:nvSpPr>
        <p:spPr>
          <a:xfrm>
            <a:off x="566928" y="5431536"/>
            <a:ext cx="11064240" cy="365760"/>
          </a:xfrm>
          <a:prstGeom prst="rect">
            <a:avLst/>
          </a:prstGeom>
          <a:noFill/>
          <a:ln/>
        </p:spPr>
        <p:txBody>
          <a:bodyPr wrap="square" lIns="0" tIns="0" rIns="0" bIns="0" rtlCol="0" anchor="ctr"/>
          <a:lstStyle/>
          <a:p>
            <a:pPr indent="0" marL="0">
              <a:buNone/>
            </a:pPr>
            <a:r>
              <a:rPr lang="en-US" sz="1350" dirty="0">
                <a:solidFill>
                  <a:srgbClr val="4B5563"/>
                </a:solidFill>
                <a:latin typeface="Calibri" pitchFamily="34" charset="0"/>
                <a:ea typeface="Calibri" pitchFamily="34" charset="-122"/>
                <a:cs typeface="Calibri" pitchFamily="34" charset="-120"/>
              </a:rPr>
              <a:t>Prediction target: NOx concentration, 1 to 6 hours ahead, with a recommended action attached to every hour.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300" b="1" dirty="0">
                <a:solidFill>
                  <a:srgbClr val="1F2937"/>
                </a:solidFill>
                <a:latin typeface="Arial" pitchFamily="34" charset="0"/>
                <a:ea typeface="Arial" pitchFamily="34" charset="-122"/>
                <a:cs typeface="Arial" pitchFamily="34" charset="-120"/>
              </a:rPr>
              <a:t>The live prototype</a:t>
            </a:r>
            <a:endParaRPr lang="en-US" sz="33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Deployed and public — no login required.</a:t>
            </a:r>
            <a:endParaRPr lang="en-US" sz="1450" dirty="0"/>
          </a:p>
        </p:txBody>
      </p:sp>
      <p:sp>
        <p:nvSpPr>
          <p:cNvPr id="4" name="Shape 2"/>
          <p:cNvSpPr/>
          <p:nvPr/>
        </p:nvSpPr>
        <p:spPr>
          <a:xfrm>
            <a:off x="566928" y="1536192"/>
            <a:ext cx="11064240" cy="658368"/>
          </a:xfrm>
          <a:prstGeom prst="roundRect">
            <a:avLst>
              <a:gd name="adj" fmla="val 12500"/>
            </a:avLst>
          </a:prstGeom>
          <a:solidFill>
            <a:srgbClr val="EFF7F1"/>
          </a:solidFill>
          <a:ln w="12700">
            <a:solidFill>
              <a:srgbClr val="EFF7F1"/>
            </a:solidFill>
            <a:prstDash val="solid"/>
          </a:ln>
        </p:spPr>
      </p:sp>
      <p:sp>
        <p:nvSpPr>
          <p:cNvPr id="5" name="Text 3"/>
          <p:cNvSpPr/>
          <p:nvPr/>
        </p:nvSpPr>
        <p:spPr>
          <a:xfrm>
            <a:off x="841248" y="1536192"/>
            <a:ext cx="10515600" cy="658368"/>
          </a:xfrm>
          <a:prstGeom prst="rect">
            <a:avLst/>
          </a:prstGeom>
          <a:noFill/>
          <a:ln/>
        </p:spPr>
        <p:txBody>
          <a:bodyPr wrap="square" lIns="0" tIns="0" rIns="0" bIns="0" rtlCol="0" anchor="ctr"/>
          <a:lstStyle/>
          <a:p>
            <a:pPr indent="0" marL="0">
              <a:buNone/>
            </a:pPr>
            <a:r>
              <a:rPr lang="en-US" sz="2100" b="1" dirty="0">
                <a:solidFill>
                  <a:srgbClr val="15803D"/>
                </a:solidFill>
                <a:latin typeface="Arial" pitchFamily="34" charset="0"/>
                <a:ea typeface="Arial" pitchFamily="34" charset="-122"/>
                <a:cs typeface="Arial" pitchFamily="34" charset="-120"/>
              </a:rPr>
              <a:t>airsense-526660427489.asia-south1.run.app</a:t>
            </a:r>
            <a:endParaRPr lang="en-US" sz="2100" dirty="0"/>
          </a:p>
        </p:txBody>
      </p:sp>
      <p:sp>
        <p:nvSpPr>
          <p:cNvPr id="6" name="Shape 4"/>
          <p:cNvSpPr/>
          <p:nvPr/>
        </p:nvSpPr>
        <p:spPr>
          <a:xfrm>
            <a:off x="566928" y="2432304"/>
            <a:ext cx="6720840" cy="1371600"/>
          </a:xfrm>
          <a:prstGeom prst="roundRect">
            <a:avLst>
              <a:gd name="adj" fmla="val 6000"/>
            </a:avLst>
          </a:prstGeom>
          <a:solidFill>
            <a:srgbClr val="FFF3E9"/>
          </a:solidFill>
          <a:ln w="12700">
            <a:solidFill>
              <a:srgbClr val="FFF3E9"/>
            </a:solidFill>
            <a:prstDash val="solid"/>
          </a:ln>
        </p:spPr>
      </p:sp>
      <p:sp>
        <p:nvSpPr>
          <p:cNvPr id="7" name="Shape 5"/>
          <p:cNvSpPr/>
          <p:nvPr/>
        </p:nvSpPr>
        <p:spPr>
          <a:xfrm>
            <a:off x="822960" y="2834640"/>
            <a:ext cx="548640" cy="548640"/>
          </a:xfrm>
          <a:prstGeom prst="ellipse">
            <a:avLst/>
          </a:prstGeom>
          <a:solidFill>
            <a:srgbClr val="F97316"/>
          </a:solidFill>
          <a:ln/>
        </p:spPr>
      </p:sp>
      <p:sp>
        <p:nvSpPr>
          <p:cNvPr id="8" name="Text 6"/>
          <p:cNvSpPr/>
          <p:nvPr/>
        </p:nvSpPr>
        <p:spPr>
          <a:xfrm>
            <a:off x="822960" y="28346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1499616" y="2633472"/>
            <a:ext cx="4663440" cy="347472"/>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Peak predicted in 2 hours — act now.</a:t>
            </a:r>
            <a:endParaRPr lang="en-US" sz="1700" dirty="0"/>
          </a:p>
        </p:txBody>
      </p:sp>
      <p:sp>
        <p:nvSpPr>
          <p:cNvPr id="10" name="Text 8"/>
          <p:cNvSpPr/>
          <p:nvPr/>
        </p:nvSpPr>
        <p:spPr>
          <a:xfrm>
            <a:off x="1499616" y="2999232"/>
            <a:ext cx="475488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Forecast reaches 239.7 ppb (High) at 08:00. Move outdoor sessions indoors.</a:t>
            </a:r>
            <a:endParaRPr lang="en-US" sz="1250" dirty="0"/>
          </a:p>
        </p:txBody>
      </p:sp>
      <p:sp>
        <p:nvSpPr>
          <p:cNvPr id="11" name="Shape 9"/>
          <p:cNvSpPr/>
          <p:nvPr/>
        </p:nvSpPr>
        <p:spPr>
          <a:xfrm>
            <a:off x="7589520" y="2432304"/>
            <a:ext cx="4023360" cy="1371600"/>
          </a:xfrm>
          <a:prstGeom prst="roundRect">
            <a:avLst>
              <a:gd name="adj" fmla="val 6000"/>
            </a:avLst>
          </a:prstGeom>
          <a:solidFill>
            <a:srgbClr val="FFFFFF"/>
          </a:solidFill>
          <a:ln w="12700">
            <a:solidFill>
              <a:srgbClr val="E5E7EB"/>
            </a:solidFill>
            <a:prstDash val="solid"/>
          </a:ln>
        </p:spPr>
      </p:sp>
      <p:sp>
        <p:nvSpPr>
          <p:cNvPr id="12" name="Text 10"/>
          <p:cNvSpPr/>
          <p:nvPr/>
        </p:nvSpPr>
        <p:spPr>
          <a:xfrm>
            <a:off x="7845552" y="2596896"/>
            <a:ext cx="3566160" cy="237744"/>
          </a:xfrm>
          <a:prstGeom prst="rect">
            <a:avLst/>
          </a:prstGeom>
          <a:noFill/>
          <a:ln/>
        </p:spPr>
        <p:txBody>
          <a:bodyPr wrap="square" lIns="0" tIns="0" rIns="0" bIns="0" rtlCol="0" anchor="ctr"/>
          <a:lstStyle/>
          <a:p>
            <a:pPr indent="0" marL="0">
              <a:buNone/>
            </a:pPr>
            <a:r>
              <a:rPr lang="en-US" sz="1050" b="1" spc="110" kern="0" dirty="0">
                <a:solidFill>
                  <a:srgbClr val="15803D"/>
                </a:solidFill>
                <a:latin typeface="Calibri" pitchFamily="34" charset="0"/>
                <a:ea typeface="Calibri" pitchFamily="34" charset="-122"/>
                <a:cs typeface="Calibri" pitchFamily="34" charset="-120"/>
              </a:rPr>
              <a:t>WHAT A USER DOES</a:t>
            </a:r>
            <a:endParaRPr lang="en-US" sz="1050" dirty="0"/>
          </a:p>
        </p:txBody>
      </p:sp>
      <p:sp>
        <p:nvSpPr>
          <p:cNvPr id="13" name="Text 11"/>
          <p:cNvSpPr/>
          <p:nvPr/>
        </p:nvSpPr>
        <p:spPr>
          <a:xfrm>
            <a:off x="7845552" y="2852928"/>
            <a:ext cx="3529584" cy="82296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Opens the link, reads the current band and the action for right now, then checks the six forecast cards for the next window worth acting on.</a:t>
            </a:r>
            <a:endParaRPr lang="en-US" sz="1200" dirty="0"/>
          </a:p>
        </p:txBody>
      </p:sp>
      <p:sp>
        <p:nvSpPr>
          <p:cNvPr id="14" name="Shape 12"/>
          <p:cNvSpPr/>
          <p:nvPr/>
        </p:nvSpPr>
        <p:spPr>
          <a:xfrm>
            <a:off x="566928" y="4041648"/>
            <a:ext cx="3529584" cy="1298448"/>
          </a:xfrm>
          <a:prstGeom prst="roundRect">
            <a:avLst>
              <a:gd name="adj" fmla="val 6338"/>
            </a:avLst>
          </a:prstGeom>
          <a:solidFill>
            <a:srgbClr val="FFFFFF"/>
          </a:solidFill>
          <a:ln w="12700">
            <a:solidFill>
              <a:srgbClr val="E5E7EB"/>
            </a:solidFill>
            <a:prstDash val="solid"/>
          </a:ln>
        </p:spPr>
      </p:sp>
      <p:sp>
        <p:nvSpPr>
          <p:cNvPr id="15" name="Text 13"/>
          <p:cNvSpPr/>
          <p:nvPr/>
        </p:nvSpPr>
        <p:spPr>
          <a:xfrm>
            <a:off x="804672" y="4206240"/>
            <a:ext cx="310896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Dashboard</a:t>
            </a:r>
            <a:endParaRPr lang="en-US" sz="1400" dirty="0"/>
          </a:p>
        </p:txBody>
      </p:sp>
      <p:sp>
        <p:nvSpPr>
          <p:cNvPr id="16" name="Text 14"/>
          <p:cNvSpPr/>
          <p:nvPr/>
        </p:nvSpPr>
        <p:spPr>
          <a:xfrm>
            <a:off x="804672" y="4480560"/>
            <a:ext cx="3072384" cy="7498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Current reading, risk band, recommended action, and the six-hour forecast strip.</a:t>
            </a:r>
            <a:endParaRPr lang="en-US" sz="1150" dirty="0"/>
          </a:p>
        </p:txBody>
      </p:sp>
      <p:sp>
        <p:nvSpPr>
          <p:cNvPr id="17" name="Shape 15"/>
          <p:cNvSpPr/>
          <p:nvPr/>
        </p:nvSpPr>
        <p:spPr>
          <a:xfrm>
            <a:off x="4279392" y="4041648"/>
            <a:ext cx="3529584" cy="1298448"/>
          </a:xfrm>
          <a:prstGeom prst="roundRect">
            <a:avLst>
              <a:gd name="adj" fmla="val 6338"/>
            </a:avLst>
          </a:prstGeom>
          <a:solidFill>
            <a:srgbClr val="FFFFFF"/>
          </a:solidFill>
          <a:ln w="12700">
            <a:solidFill>
              <a:srgbClr val="E5E7EB"/>
            </a:solidFill>
            <a:prstDash val="solid"/>
          </a:ln>
        </p:spPr>
      </p:sp>
      <p:sp>
        <p:nvSpPr>
          <p:cNvPr id="18" name="Text 16"/>
          <p:cNvSpPr/>
          <p:nvPr/>
        </p:nvSpPr>
        <p:spPr>
          <a:xfrm>
            <a:off x="4517136" y="4206240"/>
            <a:ext cx="310896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Forecast</a:t>
            </a:r>
            <a:endParaRPr lang="en-US" sz="1400" dirty="0"/>
          </a:p>
        </p:txBody>
      </p:sp>
      <p:sp>
        <p:nvSpPr>
          <p:cNvPr id="19" name="Text 17"/>
          <p:cNvSpPr/>
          <p:nvPr/>
        </p:nvSpPr>
        <p:spPr>
          <a:xfrm>
            <a:off x="4517136" y="4480560"/>
            <a:ext cx="3072384" cy="7498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Measured 48 hours joined to the prediction, hour-by-hour table, CSV export.</a:t>
            </a:r>
            <a:endParaRPr lang="en-US" sz="1150" dirty="0"/>
          </a:p>
        </p:txBody>
      </p:sp>
      <p:sp>
        <p:nvSpPr>
          <p:cNvPr id="20" name="Shape 18"/>
          <p:cNvSpPr/>
          <p:nvPr/>
        </p:nvSpPr>
        <p:spPr>
          <a:xfrm>
            <a:off x="7991856" y="4041648"/>
            <a:ext cx="3529584" cy="1298448"/>
          </a:xfrm>
          <a:prstGeom prst="roundRect">
            <a:avLst>
              <a:gd name="adj" fmla="val 6338"/>
            </a:avLst>
          </a:prstGeom>
          <a:solidFill>
            <a:srgbClr val="FFFFFF"/>
          </a:solidFill>
          <a:ln w="12700">
            <a:solidFill>
              <a:srgbClr val="E5E7EB"/>
            </a:solidFill>
            <a:prstDash val="solid"/>
          </a:ln>
        </p:spPr>
      </p:sp>
      <p:sp>
        <p:nvSpPr>
          <p:cNvPr id="21" name="Text 19"/>
          <p:cNvSpPr/>
          <p:nvPr/>
        </p:nvSpPr>
        <p:spPr>
          <a:xfrm>
            <a:off x="8229600" y="4206240"/>
            <a:ext cx="310896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Model Performance</a:t>
            </a:r>
            <a:endParaRPr lang="en-US" sz="1400" dirty="0"/>
          </a:p>
        </p:txBody>
      </p:sp>
      <p:sp>
        <p:nvSpPr>
          <p:cNvPr id="22" name="Text 20"/>
          <p:cNvSpPr/>
          <p:nvPr/>
        </p:nvSpPr>
        <p:spPr>
          <a:xfrm>
            <a:off x="8229600" y="4480560"/>
            <a:ext cx="3072384" cy="7498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Backtest of predicted against actual, plus early-warning skill.</a:t>
            </a:r>
            <a:endParaRPr lang="en-US" sz="1150" dirty="0"/>
          </a:p>
        </p:txBody>
      </p:sp>
      <p:sp>
        <p:nvSpPr>
          <p:cNvPr id="23" name="Text 21"/>
          <p:cNvSpPr/>
          <p:nvPr/>
        </p:nvSpPr>
        <p:spPr>
          <a:xfrm>
            <a:off x="566928" y="5541264"/>
            <a:ext cx="11064240" cy="45720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Because the dataset is historical, "now" is a position you choose — a judge can move the replay point and watch the model re-forecast from only the data before that hour.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300" b="1" dirty="0">
                <a:solidFill>
                  <a:srgbClr val="1F2937"/>
                </a:solidFill>
                <a:latin typeface="Arial" pitchFamily="34" charset="0"/>
                <a:ea typeface="Arial" pitchFamily="34" charset="-122"/>
                <a:cs typeface="Arial" pitchFamily="34" charset="-120"/>
              </a:rPr>
              <a:t>Validated, not asserted</a:t>
            </a:r>
            <a:endParaRPr lang="en-US" sz="33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Held-out chronological test set — 396 hours the model never saw in training.</a:t>
            </a:r>
            <a:endParaRPr lang="en-US" sz="1450" dirty="0"/>
          </a:p>
        </p:txBody>
      </p:sp>
      <p:graphicFrame>
        <p:nvGraphicFramePr>
          <p:cNvPr id="4" name="Chart 0" descr=""/>
          <p:cNvGraphicFramePr/>
          <p:nvPr/>
        </p:nvGraphicFramePr>
        <p:xfrm>
          <a:off x="566928" y="1554480"/>
          <a:ext cx="4846320" cy="2743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97296" y="1554480"/>
            <a:ext cx="2798064" cy="1207008"/>
          </a:xfrm>
          <a:prstGeom prst="roundRect">
            <a:avLst>
              <a:gd name="adj" fmla="val 6818"/>
            </a:avLst>
          </a:prstGeom>
          <a:solidFill>
            <a:srgbClr val="FFFFFF"/>
          </a:solidFill>
          <a:ln w="12700">
            <a:solidFill>
              <a:srgbClr val="E5E7EB"/>
            </a:solidFill>
            <a:prstDash val="solid"/>
          </a:ln>
        </p:spPr>
      </p:sp>
      <p:sp>
        <p:nvSpPr>
          <p:cNvPr id="6" name="Text 3"/>
          <p:cNvSpPr/>
          <p:nvPr/>
        </p:nvSpPr>
        <p:spPr>
          <a:xfrm>
            <a:off x="6016752" y="1700784"/>
            <a:ext cx="2377440" cy="566928"/>
          </a:xfrm>
          <a:prstGeom prst="rect">
            <a:avLst/>
          </a:prstGeom>
          <a:noFill/>
          <a:ln/>
        </p:spPr>
        <p:txBody>
          <a:bodyPr wrap="square" lIns="0" tIns="0" rIns="0" bIns="0" rtlCol="0" anchor="ctr"/>
          <a:lstStyle/>
          <a:p>
            <a:pPr indent="0" marL="0">
              <a:buNone/>
            </a:pPr>
            <a:r>
              <a:rPr lang="en-US" sz="3000" b="1" dirty="0">
                <a:solidFill>
                  <a:srgbClr val="15803D"/>
                </a:solidFill>
                <a:latin typeface="Arial" pitchFamily="34" charset="0"/>
                <a:ea typeface="Arial" pitchFamily="34" charset="-122"/>
                <a:cs typeface="Arial" pitchFamily="34" charset="-120"/>
              </a:rPr>
              <a:t>25.8%</a:t>
            </a:r>
            <a:endParaRPr lang="en-US" sz="3000" dirty="0"/>
          </a:p>
        </p:txBody>
      </p:sp>
      <p:sp>
        <p:nvSpPr>
          <p:cNvPr id="7" name="Text 4"/>
          <p:cNvSpPr/>
          <p:nvPr/>
        </p:nvSpPr>
        <p:spPr>
          <a:xfrm>
            <a:off x="6016752" y="2249424"/>
            <a:ext cx="237744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lower error than baseline</a:t>
            </a:r>
            <a:endParaRPr lang="en-US" sz="1150" dirty="0"/>
          </a:p>
        </p:txBody>
      </p:sp>
      <p:sp>
        <p:nvSpPr>
          <p:cNvPr id="8" name="Shape 5"/>
          <p:cNvSpPr/>
          <p:nvPr/>
        </p:nvSpPr>
        <p:spPr>
          <a:xfrm>
            <a:off x="8759952" y="1554480"/>
            <a:ext cx="2798064" cy="1207008"/>
          </a:xfrm>
          <a:prstGeom prst="roundRect">
            <a:avLst>
              <a:gd name="adj" fmla="val 6818"/>
            </a:avLst>
          </a:prstGeom>
          <a:solidFill>
            <a:srgbClr val="FFFFFF"/>
          </a:solidFill>
          <a:ln w="12700">
            <a:solidFill>
              <a:srgbClr val="E5E7EB"/>
            </a:solidFill>
            <a:prstDash val="solid"/>
          </a:ln>
        </p:spPr>
      </p:sp>
      <p:sp>
        <p:nvSpPr>
          <p:cNvPr id="9" name="Text 6"/>
          <p:cNvSpPr/>
          <p:nvPr/>
        </p:nvSpPr>
        <p:spPr>
          <a:xfrm>
            <a:off x="8979408" y="1700784"/>
            <a:ext cx="2377440" cy="566928"/>
          </a:xfrm>
          <a:prstGeom prst="rect">
            <a:avLst/>
          </a:prstGeom>
          <a:noFill/>
          <a:ln/>
        </p:spPr>
        <p:txBody>
          <a:bodyPr wrap="square" lIns="0" tIns="0" rIns="0" bIns="0" rtlCol="0" anchor="ctr"/>
          <a:lstStyle/>
          <a:p>
            <a:pPr indent="0" marL="0">
              <a:buNone/>
            </a:pPr>
            <a:r>
              <a:rPr lang="en-US" sz="3000" b="1" dirty="0">
                <a:solidFill>
                  <a:srgbClr val="1F2937"/>
                </a:solidFill>
                <a:latin typeface="Arial" pitchFamily="34" charset="0"/>
                <a:ea typeface="Arial" pitchFamily="34" charset="-122"/>
                <a:cs typeface="Arial" pitchFamily="34" charset="-120"/>
              </a:rPr>
              <a:t>0.801</a:t>
            </a:r>
            <a:endParaRPr lang="en-US" sz="3000" dirty="0"/>
          </a:p>
        </p:txBody>
      </p:sp>
      <p:sp>
        <p:nvSpPr>
          <p:cNvPr id="10" name="Text 7"/>
          <p:cNvSpPr/>
          <p:nvPr/>
        </p:nvSpPr>
        <p:spPr>
          <a:xfrm>
            <a:off x="8979408" y="2249424"/>
            <a:ext cx="237744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R² on held-out test set</a:t>
            </a:r>
            <a:endParaRPr lang="en-US" sz="1150" dirty="0"/>
          </a:p>
        </p:txBody>
      </p:sp>
      <p:sp>
        <p:nvSpPr>
          <p:cNvPr id="11" name="Shape 8"/>
          <p:cNvSpPr/>
          <p:nvPr/>
        </p:nvSpPr>
        <p:spPr>
          <a:xfrm>
            <a:off x="5797296" y="2926080"/>
            <a:ext cx="2798064" cy="1207008"/>
          </a:xfrm>
          <a:prstGeom prst="roundRect">
            <a:avLst>
              <a:gd name="adj" fmla="val 6818"/>
            </a:avLst>
          </a:prstGeom>
          <a:solidFill>
            <a:srgbClr val="FFFFFF"/>
          </a:solidFill>
          <a:ln w="12700">
            <a:solidFill>
              <a:srgbClr val="E5E7EB"/>
            </a:solidFill>
            <a:prstDash val="solid"/>
          </a:ln>
        </p:spPr>
      </p:sp>
      <p:sp>
        <p:nvSpPr>
          <p:cNvPr id="12" name="Text 9"/>
          <p:cNvSpPr/>
          <p:nvPr/>
        </p:nvSpPr>
        <p:spPr>
          <a:xfrm>
            <a:off x="6016752" y="3072384"/>
            <a:ext cx="2377440" cy="566928"/>
          </a:xfrm>
          <a:prstGeom prst="rect">
            <a:avLst/>
          </a:prstGeom>
          <a:noFill/>
          <a:ln/>
        </p:spPr>
        <p:txBody>
          <a:bodyPr wrap="square" lIns="0" tIns="0" rIns="0" bIns="0" rtlCol="0" anchor="ctr"/>
          <a:lstStyle/>
          <a:p>
            <a:pPr indent="0" marL="0">
              <a:buNone/>
            </a:pPr>
            <a:r>
              <a:rPr lang="en-US" sz="3000" b="1" dirty="0">
                <a:solidFill>
                  <a:srgbClr val="1F2937"/>
                </a:solidFill>
                <a:latin typeface="Arial" pitchFamily="34" charset="0"/>
                <a:ea typeface="Arial" pitchFamily="34" charset="-122"/>
                <a:cs typeface="Arial" pitchFamily="34" charset="-120"/>
              </a:rPr>
              <a:t>1,580 / 396</a:t>
            </a:r>
            <a:endParaRPr lang="en-US" sz="3000" dirty="0"/>
          </a:p>
        </p:txBody>
      </p:sp>
      <p:sp>
        <p:nvSpPr>
          <p:cNvPr id="13" name="Text 10"/>
          <p:cNvSpPr/>
          <p:nvPr/>
        </p:nvSpPr>
        <p:spPr>
          <a:xfrm>
            <a:off x="6016752" y="3621024"/>
            <a:ext cx="237744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train / test rows</a:t>
            </a:r>
            <a:endParaRPr lang="en-US" sz="1150" dirty="0"/>
          </a:p>
        </p:txBody>
      </p:sp>
      <p:sp>
        <p:nvSpPr>
          <p:cNvPr id="14" name="Shape 11"/>
          <p:cNvSpPr/>
          <p:nvPr/>
        </p:nvSpPr>
        <p:spPr>
          <a:xfrm>
            <a:off x="8759952" y="2926080"/>
            <a:ext cx="2798064" cy="1207008"/>
          </a:xfrm>
          <a:prstGeom prst="roundRect">
            <a:avLst>
              <a:gd name="adj" fmla="val 6818"/>
            </a:avLst>
          </a:prstGeom>
          <a:solidFill>
            <a:srgbClr val="FFFFFF"/>
          </a:solidFill>
          <a:ln w="12700">
            <a:solidFill>
              <a:srgbClr val="E5E7EB"/>
            </a:solidFill>
            <a:prstDash val="solid"/>
          </a:ln>
        </p:spPr>
      </p:sp>
      <p:sp>
        <p:nvSpPr>
          <p:cNvPr id="15" name="Text 12"/>
          <p:cNvSpPr/>
          <p:nvPr/>
        </p:nvSpPr>
        <p:spPr>
          <a:xfrm>
            <a:off x="8979408" y="3072384"/>
            <a:ext cx="2377440" cy="566928"/>
          </a:xfrm>
          <a:prstGeom prst="rect">
            <a:avLst/>
          </a:prstGeom>
          <a:noFill/>
          <a:ln/>
        </p:spPr>
        <p:txBody>
          <a:bodyPr wrap="square" lIns="0" tIns="0" rIns="0" bIns="0" rtlCol="0" anchor="ctr"/>
          <a:lstStyle/>
          <a:p>
            <a:pPr indent="0" marL="0">
              <a:buNone/>
            </a:pPr>
            <a:r>
              <a:rPr lang="en-US" sz="3000" b="1" dirty="0">
                <a:solidFill>
                  <a:srgbClr val="1F2937"/>
                </a:solidFill>
                <a:latin typeface="Arial" pitchFamily="34" charset="0"/>
                <a:ea typeface="Arial" pitchFamily="34" charset="-122"/>
                <a:cs typeface="Arial" pitchFamily="34" charset="-120"/>
              </a:rPr>
              <a:t>86.4%</a:t>
            </a:r>
            <a:endParaRPr lang="en-US" sz="3000" dirty="0"/>
          </a:p>
        </p:txBody>
      </p:sp>
      <p:sp>
        <p:nvSpPr>
          <p:cNvPr id="16" name="Text 13"/>
          <p:cNvSpPr/>
          <p:nvPr/>
        </p:nvSpPr>
        <p:spPr>
          <a:xfrm>
            <a:off x="8979408" y="3621024"/>
            <a:ext cx="237744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hours within 50 ppb</a:t>
            </a:r>
            <a:endParaRPr lang="en-US" sz="1150" dirty="0"/>
          </a:p>
        </p:txBody>
      </p:sp>
      <p:sp>
        <p:nvSpPr>
          <p:cNvPr id="17" name="Shape 14"/>
          <p:cNvSpPr/>
          <p:nvPr/>
        </p:nvSpPr>
        <p:spPr>
          <a:xfrm>
            <a:off x="5797296" y="4297680"/>
            <a:ext cx="5760720" cy="1133856"/>
          </a:xfrm>
          <a:prstGeom prst="roundRect">
            <a:avLst>
              <a:gd name="adj" fmla="val 7258"/>
            </a:avLst>
          </a:prstGeom>
          <a:solidFill>
            <a:srgbClr val="EFF7F1"/>
          </a:solidFill>
          <a:ln w="12700">
            <a:solidFill>
              <a:srgbClr val="EFF7F1"/>
            </a:solidFill>
            <a:prstDash val="solid"/>
          </a:ln>
        </p:spPr>
      </p:sp>
      <p:sp>
        <p:nvSpPr>
          <p:cNvPr id="18" name="Text 15"/>
          <p:cNvSpPr/>
          <p:nvPr/>
        </p:nvSpPr>
        <p:spPr>
          <a:xfrm>
            <a:off x="6035040" y="4443984"/>
            <a:ext cx="5303520" cy="237744"/>
          </a:xfrm>
          <a:prstGeom prst="rect">
            <a:avLst/>
          </a:prstGeom>
          <a:noFill/>
          <a:ln/>
        </p:spPr>
        <p:txBody>
          <a:bodyPr wrap="square" lIns="0" tIns="0" rIns="0" bIns="0" rtlCol="0" anchor="ctr"/>
          <a:lstStyle/>
          <a:p>
            <a:pPr indent="0" marL="0">
              <a:buNone/>
            </a:pPr>
            <a:r>
              <a:rPr lang="en-US" sz="1050" b="1" spc="110" kern="0" dirty="0">
                <a:solidFill>
                  <a:srgbClr val="15803D"/>
                </a:solidFill>
                <a:latin typeface="Calibri" pitchFamily="34" charset="0"/>
                <a:ea typeface="Calibri" pitchFamily="34" charset="-122"/>
                <a:cs typeface="Calibri" pitchFamily="34" charset="-120"/>
              </a:rPr>
              <a:t>EARLY WARNING · ONE HOUR AHEAD</a:t>
            </a:r>
            <a:endParaRPr lang="en-US" sz="1050" dirty="0"/>
          </a:p>
        </p:txBody>
      </p:sp>
      <p:sp>
        <p:nvSpPr>
          <p:cNvPr id="19" name="Text 16"/>
          <p:cNvSpPr/>
          <p:nvPr/>
        </p:nvSpPr>
        <p:spPr>
          <a:xfrm>
            <a:off x="6035040" y="4700016"/>
            <a:ext cx="5303520" cy="64008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Of 72 hours that actually exceeded 200 ppb, the model flagged </a:t>
            </a:r>
            <a:pPr indent="0" marL="0">
              <a:buNone/>
            </a:pPr>
            <a:r>
              <a:rPr lang="en-US" sz="1250" b="1" dirty="0">
                <a:solidFill>
                  <a:srgbClr val="1F2937"/>
                </a:solidFill>
                <a:latin typeface="Calibri" pitchFamily="34" charset="0"/>
                <a:ea typeface="Calibri" pitchFamily="34" charset="-122"/>
                <a:cs typeface="Calibri" pitchFamily="34" charset="-120"/>
              </a:rPr>
              <a:t>52</a:t>
            </a:r>
            <a:pPr indent="0" marL="0">
              <a:buNone/>
            </a:pPr>
            <a:r>
              <a:rPr lang="en-US" sz="1250" dirty="0">
                <a:solidFill>
                  <a:srgbClr val="4B5563"/>
                </a:solidFill>
                <a:latin typeface="Calibri" pitchFamily="34" charset="0"/>
                <a:ea typeface="Calibri" pitchFamily="34" charset="-122"/>
                <a:cs typeface="Calibri" pitchFamily="34" charset="-120"/>
              </a:rPr>
              <a:t> — 72.2% caught, 77.6% of warnings correct. 20 missed, 15 false alarms.</a:t>
            </a:r>
            <a:endParaRPr lang="en-US" sz="1250" dirty="0"/>
          </a:p>
        </p:txBody>
      </p:sp>
      <p:sp>
        <p:nvSpPr>
          <p:cNvPr id="20" name="Shape 17"/>
          <p:cNvSpPr/>
          <p:nvPr/>
        </p:nvSpPr>
        <p:spPr>
          <a:xfrm>
            <a:off x="566928" y="4443984"/>
            <a:ext cx="4846320" cy="987552"/>
          </a:xfrm>
          <a:prstGeom prst="roundRect">
            <a:avLst>
              <a:gd name="adj" fmla="val 8333"/>
            </a:avLst>
          </a:prstGeom>
          <a:solidFill>
            <a:srgbClr val="FFFFFF"/>
          </a:solidFill>
          <a:ln w="12700">
            <a:solidFill>
              <a:srgbClr val="E5E7EB"/>
            </a:solidFill>
            <a:prstDash val="solid"/>
          </a:ln>
        </p:spPr>
      </p:sp>
      <p:sp>
        <p:nvSpPr>
          <p:cNvPr id="21" name="Text 18"/>
          <p:cNvSpPr/>
          <p:nvPr/>
        </p:nvSpPr>
        <p:spPr>
          <a:xfrm>
            <a:off x="786384" y="4535424"/>
            <a:ext cx="4434840" cy="8229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Chronological split — no future data leaked into training. Baseline is "persistence": next hour equals current hour, the honest naive benchmark.</a:t>
            </a:r>
            <a:endParaRPr lang="en-US" sz="1150" dirty="0"/>
          </a:p>
        </p:txBody>
      </p:sp>
      <p:sp>
        <p:nvSpPr>
          <p:cNvPr id="22" name="Text 19"/>
          <p:cNvSpPr/>
          <p:nvPr/>
        </p:nvSpPr>
        <p:spPr>
          <a:xfrm>
            <a:off x="566928" y="5632704"/>
            <a:ext cx="1106424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Known limits: one sensor stream, so the four campus zones are simulated and labelled as such · historical data, not a live feed · exogenous features held constant · risk bands are project-defined, not CPCB standards.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300" b="1" dirty="0">
                <a:solidFill>
                  <a:srgbClr val="1F2937"/>
                </a:solidFill>
                <a:latin typeface="Arial" pitchFamily="34" charset="0"/>
                <a:ea typeface="Arial" pitchFamily="34" charset="-122"/>
                <a:cs typeface="Arial" pitchFamily="34" charset="-120"/>
              </a:rPr>
              <a:t>Impact potential</a:t>
            </a:r>
            <a:endParaRPr lang="en-US" sz="33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What changes when a campus can see the peak an hour or more before it lands.</a:t>
            </a:r>
            <a:endParaRPr lang="en-US" sz="1450" dirty="0"/>
          </a:p>
        </p:txBody>
      </p:sp>
      <p:sp>
        <p:nvSpPr>
          <p:cNvPr id="4" name="Shape 2"/>
          <p:cNvSpPr/>
          <p:nvPr/>
        </p:nvSpPr>
        <p:spPr>
          <a:xfrm>
            <a:off x="566928" y="1572768"/>
            <a:ext cx="3529584" cy="2889504"/>
          </a:xfrm>
          <a:prstGeom prst="roundRect">
            <a:avLst>
              <a:gd name="adj" fmla="val 2848"/>
            </a:avLst>
          </a:prstGeom>
          <a:solidFill>
            <a:srgbClr val="FFFFFF"/>
          </a:solidFill>
          <a:ln w="12700">
            <a:solidFill>
              <a:srgbClr val="E5E7EB"/>
            </a:solidFill>
            <a:prstDash val="solid"/>
          </a:ln>
        </p:spPr>
      </p:sp>
      <p:sp>
        <p:nvSpPr>
          <p:cNvPr id="5" name="Shape 3"/>
          <p:cNvSpPr/>
          <p:nvPr/>
        </p:nvSpPr>
        <p:spPr>
          <a:xfrm>
            <a:off x="804672" y="1810512"/>
            <a:ext cx="402336" cy="402336"/>
          </a:xfrm>
          <a:prstGeom prst="ellipse">
            <a:avLst/>
          </a:prstGeom>
          <a:solidFill>
            <a:srgbClr val="15803D"/>
          </a:solidFill>
          <a:ln/>
        </p:spPr>
      </p:sp>
      <p:sp>
        <p:nvSpPr>
          <p:cNvPr id="6" name="Text 4"/>
          <p:cNvSpPr/>
          <p:nvPr/>
        </p:nvSpPr>
        <p:spPr>
          <a:xfrm>
            <a:off x="804672"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16736" y="1810512"/>
            <a:ext cx="2560320" cy="402336"/>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Environmental</a:t>
            </a:r>
            <a:endParaRPr lang="en-US" sz="1700" dirty="0"/>
          </a:p>
        </p:txBody>
      </p:sp>
      <p:sp>
        <p:nvSpPr>
          <p:cNvPr id="8" name="Text 6"/>
          <p:cNvSpPr/>
          <p:nvPr/>
        </p:nvSpPr>
        <p:spPr>
          <a:xfrm>
            <a:off x="804672" y="2359152"/>
            <a:ext cx="3054096" cy="192024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Targeted filtration and ventilation instead of running it blind all day.</a:t>
            </a:r>
            <a:endParaRPr lang="en-US" sz="1200" dirty="0"/>
          </a:p>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Advance notice supports staggering exit timings to flatten the gate-queue peak.</a:t>
            </a:r>
            <a:endParaRPr lang="en-US" sz="1200" dirty="0"/>
          </a:p>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Measured capability: 72.2% of High-pollution hours flagged one hour ahead.</a:t>
            </a:r>
            <a:endParaRPr lang="en-US" sz="1200" dirty="0"/>
          </a:p>
        </p:txBody>
      </p:sp>
      <p:sp>
        <p:nvSpPr>
          <p:cNvPr id="9" name="Shape 7"/>
          <p:cNvSpPr/>
          <p:nvPr/>
        </p:nvSpPr>
        <p:spPr>
          <a:xfrm>
            <a:off x="4279392" y="1572768"/>
            <a:ext cx="3529584" cy="2889504"/>
          </a:xfrm>
          <a:prstGeom prst="roundRect">
            <a:avLst>
              <a:gd name="adj" fmla="val 2848"/>
            </a:avLst>
          </a:prstGeom>
          <a:solidFill>
            <a:srgbClr val="FFFFFF"/>
          </a:solidFill>
          <a:ln w="12700">
            <a:solidFill>
              <a:srgbClr val="E5E7EB"/>
            </a:solidFill>
            <a:prstDash val="solid"/>
          </a:ln>
        </p:spPr>
      </p:sp>
      <p:sp>
        <p:nvSpPr>
          <p:cNvPr id="10" name="Shape 8"/>
          <p:cNvSpPr/>
          <p:nvPr/>
        </p:nvSpPr>
        <p:spPr>
          <a:xfrm>
            <a:off x="4517136" y="1810512"/>
            <a:ext cx="402336" cy="402336"/>
          </a:xfrm>
          <a:prstGeom prst="ellipse">
            <a:avLst/>
          </a:prstGeom>
          <a:solidFill>
            <a:srgbClr val="1B7A45"/>
          </a:solidFill>
          <a:ln/>
        </p:spPr>
      </p:sp>
      <p:sp>
        <p:nvSpPr>
          <p:cNvPr id="11" name="Text 9"/>
          <p:cNvSpPr/>
          <p:nvPr/>
        </p:nvSpPr>
        <p:spPr>
          <a:xfrm>
            <a:off x="4517136"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029200" y="1810512"/>
            <a:ext cx="2560320" cy="402336"/>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Social</a:t>
            </a:r>
            <a:endParaRPr lang="en-US" sz="1700" dirty="0"/>
          </a:p>
        </p:txBody>
      </p:sp>
      <p:sp>
        <p:nvSpPr>
          <p:cNvPr id="13" name="Text 11"/>
          <p:cNvSpPr/>
          <p:nvPr/>
        </p:nvSpPr>
        <p:spPr>
          <a:xfrm>
            <a:off x="4517136" y="2359152"/>
            <a:ext cx="3054096" cy="192024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Sensitive and asthmatic individuals get a decision, not just a number.</a:t>
            </a:r>
            <a:endParaRPr lang="en-US" sz="1200" dirty="0"/>
          </a:p>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Outdoor sport and assembly can be scheduled into cleaner windows.</a:t>
            </a:r>
            <a:endParaRPr lang="en-US" sz="1200" dirty="0"/>
          </a:p>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The zone design lets guidance be location-specific rather than campus-wide.</a:t>
            </a:r>
            <a:endParaRPr lang="en-US" sz="1200" dirty="0"/>
          </a:p>
        </p:txBody>
      </p:sp>
      <p:sp>
        <p:nvSpPr>
          <p:cNvPr id="14" name="Shape 12"/>
          <p:cNvSpPr/>
          <p:nvPr/>
        </p:nvSpPr>
        <p:spPr>
          <a:xfrm>
            <a:off x="7991856" y="1572768"/>
            <a:ext cx="3529584" cy="2889504"/>
          </a:xfrm>
          <a:prstGeom prst="roundRect">
            <a:avLst>
              <a:gd name="adj" fmla="val 2848"/>
            </a:avLst>
          </a:prstGeom>
          <a:solidFill>
            <a:srgbClr val="FFFFFF"/>
          </a:solidFill>
          <a:ln w="12700">
            <a:solidFill>
              <a:srgbClr val="E5E7EB"/>
            </a:solidFill>
            <a:prstDash val="solid"/>
          </a:ln>
        </p:spPr>
      </p:sp>
      <p:sp>
        <p:nvSpPr>
          <p:cNvPr id="15" name="Shape 13"/>
          <p:cNvSpPr/>
          <p:nvPr/>
        </p:nvSpPr>
        <p:spPr>
          <a:xfrm>
            <a:off x="8229600" y="1810512"/>
            <a:ext cx="402336" cy="402336"/>
          </a:xfrm>
          <a:prstGeom prst="ellipse">
            <a:avLst/>
          </a:prstGeom>
          <a:solidFill>
            <a:srgbClr val="2A8C55"/>
          </a:solidFill>
          <a:ln/>
        </p:spPr>
      </p:sp>
      <p:sp>
        <p:nvSpPr>
          <p:cNvPr id="16" name="Text 14"/>
          <p:cNvSpPr/>
          <p:nvPr/>
        </p:nvSpPr>
        <p:spPr>
          <a:xfrm>
            <a:off x="8229600"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741664" y="1810512"/>
            <a:ext cx="2560320" cy="402336"/>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Governance</a:t>
            </a:r>
            <a:endParaRPr lang="en-US" sz="1700" dirty="0"/>
          </a:p>
        </p:txBody>
      </p:sp>
      <p:sp>
        <p:nvSpPr>
          <p:cNvPr id="18" name="Text 16"/>
          <p:cNvSpPr/>
          <p:nvPr/>
        </p:nvSpPr>
        <p:spPr>
          <a:xfrm>
            <a:off x="8229600" y="2359152"/>
            <a:ext cx="3054096" cy="192024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Every figure in the interface is computed from real data; anything derived is labelled simulated.</a:t>
            </a:r>
            <a:endParaRPr lang="en-US" sz="1200" dirty="0"/>
          </a:p>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Validation, limitations and data provenance are published in the repository.</a:t>
            </a:r>
            <a:endParaRPr lang="en-US" sz="1200" dirty="0"/>
          </a:p>
          <a:p>
            <a:pPr marL="342900" indent="-342900">
              <a:spcAft>
                <a:spcPts val="900"/>
              </a:spcAft>
              <a:buSzPct val="100000"/>
              <a:buChar char="•"/>
            </a:pPr>
            <a:r>
              <a:rPr lang="en-US" sz="1200" dirty="0">
                <a:solidFill>
                  <a:srgbClr val="4B5563"/>
                </a:solidFill>
                <a:latin typeface="Calibri" pitchFamily="34" charset="0"/>
                <a:ea typeface="Calibri" pitchFamily="34" charset="-122"/>
                <a:cs typeface="Calibri" pitchFamily="34" charset="-120"/>
              </a:rPr>
              <a:t>Forecasts export to CSV with provenance headers for audit.</a:t>
            </a:r>
            <a:endParaRPr lang="en-US" sz="1200" dirty="0"/>
          </a:p>
        </p:txBody>
      </p:sp>
      <p:sp>
        <p:nvSpPr>
          <p:cNvPr id="19" name="Shape 17"/>
          <p:cNvSpPr/>
          <p:nvPr/>
        </p:nvSpPr>
        <p:spPr>
          <a:xfrm>
            <a:off x="566928" y="4791456"/>
            <a:ext cx="11064240" cy="1005840"/>
          </a:xfrm>
          <a:prstGeom prst="roundRect">
            <a:avLst>
              <a:gd name="adj" fmla="val 8182"/>
            </a:avLst>
          </a:prstGeom>
          <a:solidFill>
            <a:srgbClr val="EFF7F1"/>
          </a:solidFill>
          <a:ln w="12700">
            <a:solidFill>
              <a:srgbClr val="EFF7F1"/>
            </a:solidFill>
            <a:prstDash val="solid"/>
          </a:ln>
        </p:spPr>
      </p:sp>
      <p:sp>
        <p:nvSpPr>
          <p:cNvPr id="20" name="Text 18"/>
          <p:cNvSpPr/>
          <p:nvPr/>
        </p:nvSpPr>
        <p:spPr>
          <a:xfrm>
            <a:off x="841248" y="4791456"/>
            <a:ext cx="10515600" cy="1005840"/>
          </a:xfrm>
          <a:prstGeom prst="rect">
            <a:avLst/>
          </a:prstGeom>
          <a:noFill/>
          <a:ln/>
        </p:spPr>
        <p:txBody>
          <a:bodyPr wrap="square" lIns="0" tIns="0" rIns="0" bIns="0" rtlCol="0" anchor="ctr"/>
          <a:lstStyle/>
          <a:p>
            <a:pPr indent="0" marL="0">
              <a:buNone/>
            </a:pPr>
            <a:r>
              <a:rPr lang="en-US" sz="1300" dirty="0">
                <a:solidFill>
                  <a:srgbClr val="4B5563"/>
                </a:solidFill>
                <a:latin typeface="Calibri" pitchFamily="34" charset="0"/>
                <a:ea typeface="Calibri" pitchFamily="34" charset="-122"/>
                <a:cs typeface="Calibri" pitchFamily="34" charset="-120"/>
              </a:rPr>
              <a:t>Who benefits first: roughly the whole campus population passing the Main Gate and Parking Block, the two most traffic-exposed points in our design. Quantified ESG targets are carried over from Assignment 4A.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3B21"/>
        </a:solidFill>
      </p:bgPr>
    </p:bg>
    <p:spTree>
      <p:nvGrpSpPr>
        <p:cNvPr id="1" name=""/>
        <p:cNvGrpSpPr/>
        <p:nvPr/>
      </p:nvGrpSpPr>
      <p:grpSpPr>
        <a:xfrm>
          <a:off x="0" y="0"/>
          <a:ext cx="0" cy="0"/>
          <a:chOff x="0" y="0"/>
          <a:chExt cx="0" cy="0"/>
        </a:xfrm>
      </p:grpSpPr>
      <p:sp>
        <p:nvSpPr>
          <p:cNvPr id="2" name="Text 0"/>
          <p:cNvSpPr/>
          <p:nvPr/>
        </p:nvSpPr>
        <p:spPr>
          <a:xfrm>
            <a:off x="566928" y="566928"/>
            <a:ext cx="11057839" cy="65836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What's next</a:t>
            </a:r>
            <a:endParaRPr lang="en-US" sz="3300" dirty="0"/>
          </a:p>
        </p:txBody>
      </p:sp>
      <p:sp>
        <p:nvSpPr>
          <p:cNvPr id="3" name="Text 1"/>
          <p:cNvSpPr/>
          <p:nvPr/>
        </p:nvSpPr>
        <p:spPr>
          <a:xfrm>
            <a:off x="566928" y="1225296"/>
            <a:ext cx="9509760" cy="365760"/>
          </a:xfrm>
          <a:prstGeom prst="rect">
            <a:avLst/>
          </a:prstGeom>
          <a:noFill/>
          <a:ln/>
        </p:spPr>
        <p:txBody>
          <a:bodyPr wrap="square" lIns="0" tIns="0" rIns="0" bIns="0" rtlCol="0" anchor="ctr"/>
          <a:lstStyle/>
          <a:p>
            <a:pPr indent="0" marL="0">
              <a:buNone/>
            </a:pPr>
            <a:r>
              <a:rPr lang="en-US" sz="1450" dirty="0">
                <a:solidFill>
                  <a:srgbClr val="9DC4AC"/>
                </a:solidFill>
                <a:latin typeface="Calibri" pitchFamily="34" charset="0"/>
                <a:ea typeface="Calibri" pitchFamily="34" charset="-122"/>
                <a:cs typeface="Calibri" pitchFamily="34" charset="-120"/>
              </a:rPr>
              <a:t>The single biggest accuracy win available to us is a weather forecast — it is the one assumption we currently hold constant.</a:t>
            </a:r>
            <a:endParaRPr lang="en-US" sz="1450" dirty="0"/>
          </a:p>
        </p:txBody>
      </p:sp>
      <p:sp>
        <p:nvSpPr>
          <p:cNvPr id="4" name="Shape 2"/>
          <p:cNvSpPr/>
          <p:nvPr/>
        </p:nvSpPr>
        <p:spPr>
          <a:xfrm>
            <a:off x="566928" y="1883664"/>
            <a:ext cx="402336" cy="402336"/>
          </a:xfrm>
          <a:prstGeom prst="ellipse">
            <a:avLst/>
          </a:prstGeom>
          <a:solidFill>
            <a:srgbClr val="1B7A45"/>
          </a:solidFill>
          <a:ln/>
        </p:spPr>
      </p:sp>
      <p:sp>
        <p:nvSpPr>
          <p:cNvPr id="5" name="Text 3"/>
          <p:cNvSpPr/>
          <p:nvPr/>
        </p:nvSpPr>
        <p:spPr>
          <a:xfrm>
            <a:off x="566928" y="1883664"/>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6" name="Text 4"/>
          <p:cNvSpPr/>
          <p:nvPr/>
        </p:nvSpPr>
        <p:spPr>
          <a:xfrm>
            <a:off x="1170432" y="1856232"/>
            <a:ext cx="274320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Pilot</a:t>
            </a:r>
            <a:endParaRPr lang="en-US" sz="1450" dirty="0"/>
          </a:p>
        </p:txBody>
      </p:sp>
      <p:sp>
        <p:nvSpPr>
          <p:cNvPr id="7" name="Text 5"/>
          <p:cNvSpPr/>
          <p:nvPr/>
        </p:nvSpPr>
        <p:spPr>
          <a:xfrm>
            <a:off x="3950208" y="1847088"/>
            <a:ext cx="4754880" cy="566928"/>
          </a:xfrm>
          <a:prstGeom prst="rect">
            <a:avLst/>
          </a:prstGeom>
          <a:noFill/>
          <a:ln/>
        </p:spPr>
        <p:txBody>
          <a:bodyPr wrap="square" lIns="0" tIns="0" rIns="0" bIns="0" rtlCol="0" anchor="t"/>
          <a:lstStyle/>
          <a:p>
            <a:pPr indent="0" marL="0">
              <a:buNone/>
            </a:pPr>
            <a:r>
              <a:rPr lang="en-US" sz="1200" dirty="0">
                <a:solidFill>
                  <a:srgbClr val="A9CDB8"/>
                </a:solidFill>
                <a:latin typeface="Calibri" pitchFamily="34" charset="0"/>
                <a:ea typeface="Calibri" pitchFamily="34" charset="-122"/>
                <a:cs typeface="Calibri" pitchFamily="34" charset="-120"/>
              </a:rPr>
              <a:t>Deploy a real low-cost NOx sensor at MAIT and replace the historical file with a live feed.</a:t>
            </a:r>
            <a:endParaRPr lang="en-US" sz="1200" dirty="0"/>
          </a:p>
        </p:txBody>
      </p:sp>
      <p:sp>
        <p:nvSpPr>
          <p:cNvPr id="8" name="Shape 6"/>
          <p:cNvSpPr/>
          <p:nvPr/>
        </p:nvSpPr>
        <p:spPr>
          <a:xfrm>
            <a:off x="566928" y="2642616"/>
            <a:ext cx="402336" cy="402336"/>
          </a:xfrm>
          <a:prstGeom prst="ellipse">
            <a:avLst/>
          </a:prstGeom>
          <a:solidFill>
            <a:srgbClr val="1B7A45"/>
          </a:solidFill>
          <a:ln/>
        </p:spPr>
      </p:sp>
      <p:sp>
        <p:nvSpPr>
          <p:cNvPr id="9" name="Text 7"/>
          <p:cNvSpPr/>
          <p:nvPr/>
        </p:nvSpPr>
        <p:spPr>
          <a:xfrm>
            <a:off x="566928" y="2642616"/>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0" name="Text 8"/>
          <p:cNvSpPr/>
          <p:nvPr/>
        </p:nvSpPr>
        <p:spPr>
          <a:xfrm>
            <a:off x="1170432" y="2615184"/>
            <a:ext cx="274320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Multi-zone</a:t>
            </a:r>
            <a:endParaRPr lang="en-US" sz="1450" dirty="0"/>
          </a:p>
        </p:txBody>
      </p:sp>
      <p:sp>
        <p:nvSpPr>
          <p:cNvPr id="11" name="Text 9"/>
          <p:cNvSpPr/>
          <p:nvPr/>
        </p:nvSpPr>
        <p:spPr>
          <a:xfrm>
            <a:off x="3950208" y="2606040"/>
            <a:ext cx="4754880" cy="566928"/>
          </a:xfrm>
          <a:prstGeom prst="rect">
            <a:avLst/>
          </a:prstGeom>
          <a:noFill/>
          <a:ln/>
        </p:spPr>
        <p:txBody>
          <a:bodyPr wrap="square" lIns="0" tIns="0" rIns="0" bIns="0" rtlCol="0" anchor="t"/>
          <a:lstStyle/>
          <a:p>
            <a:pPr indent="0" marL="0">
              <a:buNone/>
            </a:pPr>
            <a:r>
              <a:rPr lang="en-US" sz="1200" dirty="0">
                <a:solidFill>
                  <a:srgbClr val="A9CDB8"/>
                </a:solidFill>
                <a:latin typeface="Calibri" pitchFamily="34" charset="0"/>
                <a:ea typeface="Calibri" pitchFamily="34" charset="-122"/>
                <a:cs typeface="Calibri" pitchFamily="34" charset="-120"/>
              </a:rPr>
              <a:t>Additional sensors turn the four simulated zones into four measured ones.</a:t>
            </a:r>
            <a:endParaRPr lang="en-US" sz="1200" dirty="0"/>
          </a:p>
        </p:txBody>
      </p:sp>
      <p:sp>
        <p:nvSpPr>
          <p:cNvPr id="12" name="Shape 10"/>
          <p:cNvSpPr/>
          <p:nvPr/>
        </p:nvSpPr>
        <p:spPr>
          <a:xfrm>
            <a:off x="566928" y="3401568"/>
            <a:ext cx="402336" cy="402336"/>
          </a:xfrm>
          <a:prstGeom prst="ellipse">
            <a:avLst/>
          </a:prstGeom>
          <a:solidFill>
            <a:srgbClr val="1B7A45"/>
          </a:solidFill>
          <a:ln/>
        </p:spPr>
      </p:sp>
      <p:sp>
        <p:nvSpPr>
          <p:cNvPr id="13" name="Text 11"/>
          <p:cNvSpPr/>
          <p:nvPr/>
        </p:nvSpPr>
        <p:spPr>
          <a:xfrm>
            <a:off x="566928" y="3401568"/>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4" name="Text 12"/>
          <p:cNvSpPr/>
          <p:nvPr/>
        </p:nvSpPr>
        <p:spPr>
          <a:xfrm>
            <a:off x="1170432" y="3374136"/>
            <a:ext cx="274320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Forecast quality</a:t>
            </a:r>
            <a:endParaRPr lang="en-US" sz="1450" dirty="0"/>
          </a:p>
        </p:txBody>
      </p:sp>
      <p:sp>
        <p:nvSpPr>
          <p:cNvPr id="15" name="Text 13"/>
          <p:cNvSpPr/>
          <p:nvPr/>
        </p:nvSpPr>
        <p:spPr>
          <a:xfrm>
            <a:off x="3950208" y="3364992"/>
            <a:ext cx="4754880" cy="566928"/>
          </a:xfrm>
          <a:prstGeom prst="rect">
            <a:avLst/>
          </a:prstGeom>
          <a:noFill/>
          <a:ln/>
        </p:spPr>
        <p:txBody>
          <a:bodyPr wrap="square" lIns="0" tIns="0" rIns="0" bIns="0" rtlCol="0" anchor="t"/>
          <a:lstStyle/>
          <a:p>
            <a:pPr indent="0" marL="0">
              <a:buNone/>
            </a:pPr>
            <a:r>
              <a:rPr lang="en-US" sz="1200" dirty="0">
                <a:solidFill>
                  <a:srgbClr val="A9CDB8"/>
                </a:solidFill>
                <a:latin typeface="Calibri" pitchFamily="34" charset="0"/>
                <a:ea typeface="Calibri" pitchFamily="34" charset="-122"/>
                <a:cs typeface="Calibri" pitchFamily="34" charset="-120"/>
              </a:rPr>
              <a:t>Ingest a weather forecast so exogenous features stop being held constant.</a:t>
            </a:r>
            <a:endParaRPr lang="en-US" sz="1200" dirty="0"/>
          </a:p>
        </p:txBody>
      </p:sp>
      <p:sp>
        <p:nvSpPr>
          <p:cNvPr id="16" name="Shape 14"/>
          <p:cNvSpPr/>
          <p:nvPr/>
        </p:nvSpPr>
        <p:spPr>
          <a:xfrm>
            <a:off x="566928" y="4160520"/>
            <a:ext cx="402336" cy="402336"/>
          </a:xfrm>
          <a:prstGeom prst="ellipse">
            <a:avLst/>
          </a:prstGeom>
          <a:solidFill>
            <a:srgbClr val="1B7A45"/>
          </a:solidFill>
          <a:ln/>
        </p:spPr>
      </p:sp>
      <p:sp>
        <p:nvSpPr>
          <p:cNvPr id="17" name="Text 15"/>
          <p:cNvSpPr/>
          <p:nvPr/>
        </p:nvSpPr>
        <p:spPr>
          <a:xfrm>
            <a:off x="566928" y="4160520"/>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18" name="Text 16"/>
          <p:cNvSpPr/>
          <p:nvPr/>
        </p:nvSpPr>
        <p:spPr>
          <a:xfrm>
            <a:off x="1170432" y="4133088"/>
            <a:ext cx="274320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Alerting</a:t>
            </a:r>
            <a:endParaRPr lang="en-US" sz="1450" dirty="0"/>
          </a:p>
        </p:txBody>
      </p:sp>
      <p:sp>
        <p:nvSpPr>
          <p:cNvPr id="19" name="Text 17"/>
          <p:cNvSpPr/>
          <p:nvPr/>
        </p:nvSpPr>
        <p:spPr>
          <a:xfrm>
            <a:off x="3950208" y="4123944"/>
            <a:ext cx="4754880" cy="566928"/>
          </a:xfrm>
          <a:prstGeom prst="rect">
            <a:avLst/>
          </a:prstGeom>
          <a:noFill/>
          <a:ln/>
        </p:spPr>
        <p:txBody>
          <a:bodyPr wrap="square" lIns="0" tIns="0" rIns="0" bIns="0" rtlCol="0" anchor="t"/>
          <a:lstStyle/>
          <a:p>
            <a:pPr indent="0" marL="0">
              <a:buNone/>
            </a:pPr>
            <a:r>
              <a:rPr lang="en-US" sz="1200" dirty="0">
                <a:solidFill>
                  <a:srgbClr val="A9CDB8"/>
                </a:solidFill>
                <a:latin typeface="Calibri" pitchFamily="34" charset="0"/>
                <a:ea typeface="Calibri" pitchFamily="34" charset="-122"/>
                <a:cs typeface="Calibri" pitchFamily="34" charset="-120"/>
              </a:rPr>
              <a:t>Opt-in notifications ahead of predicted Severe hours.</a:t>
            </a:r>
            <a:endParaRPr lang="en-US" sz="1200" dirty="0"/>
          </a:p>
        </p:txBody>
      </p:sp>
      <p:sp>
        <p:nvSpPr>
          <p:cNvPr id="20" name="Shape 18"/>
          <p:cNvSpPr/>
          <p:nvPr/>
        </p:nvSpPr>
        <p:spPr>
          <a:xfrm>
            <a:off x="566928" y="4919472"/>
            <a:ext cx="402336" cy="402336"/>
          </a:xfrm>
          <a:prstGeom prst="ellipse">
            <a:avLst/>
          </a:prstGeom>
          <a:solidFill>
            <a:srgbClr val="1B7A45"/>
          </a:solidFill>
          <a:ln/>
        </p:spPr>
      </p:sp>
      <p:sp>
        <p:nvSpPr>
          <p:cNvPr id="21" name="Text 19"/>
          <p:cNvSpPr/>
          <p:nvPr/>
        </p:nvSpPr>
        <p:spPr>
          <a:xfrm>
            <a:off x="566928" y="4919472"/>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22" name="Text 20"/>
          <p:cNvSpPr/>
          <p:nvPr/>
        </p:nvSpPr>
        <p:spPr>
          <a:xfrm>
            <a:off x="1170432" y="4892040"/>
            <a:ext cx="274320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Scale</a:t>
            </a:r>
            <a:endParaRPr lang="en-US" sz="1450" dirty="0"/>
          </a:p>
        </p:txBody>
      </p:sp>
      <p:sp>
        <p:nvSpPr>
          <p:cNvPr id="23" name="Text 21"/>
          <p:cNvSpPr/>
          <p:nvPr/>
        </p:nvSpPr>
        <p:spPr>
          <a:xfrm>
            <a:off x="3950208" y="4882896"/>
            <a:ext cx="4754880" cy="566928"/>
          </a:xfrm>
          <a:prstGeom prst="rect">
            <a:avLst/>
          </a:prstGeom>
          <a:noFill/>
          <a:ln/>
        </p:spPr>
        <p:txBody>
          <a:bodyPr wrap="square" lIns="0" tIns="0" rIns="0" bIns="0" rtlCol="0" anchor="t"/>
          <a:lstStyle/>
          <a:p>
            <a:pPr indent="0" marL="0">
              <a:buNone/>
            </a:pPr>
            <a:r>
              <a:rPr lang="en-US" sz="1200" dirty="0">
                <a:solidFill>
                  <a:srgbClr val="A9CDB8"/>
                </a:solidFill>
                <a:latin typeface="Calibri" pitchFamily="34" charset="0"/>
                <a:ea typeface="Calibri" pitchFamily="34" charset="-122"/>
                <a:cs typeface="Calibri" pitchFamily="34" charset="-120"/>
              </a:rPr>
              <a:t>Multi-campus tenancy and a documented public API.</a:t>
            </a:r>
            <a:endParaRPr lang="en-US" sz="1200" dirty="0"/>
          </a:p>
        </p:txBody>
      </p:sp>
      <p:sp>
        <p:nvSpPr>
          <p:cNvPr id="24" name="Shape 22"/>
          <p:cNvSpPr/>
          <p:nvPr/>
        </p:nvSpPr>
        <p:spPr>
          <a:xfrm>
            <a:off x="8686800" y="1883664"/>
            <a:ext cx="2944368" cy="2139696"/>
          </a:xfrm>
          <a:prstGeom prst="roundRect">
            <a:avLst>
              <a:gd name="adj" fmla="val 3846"/>
            </a:avLst>
          </a:prstGeom>
          <a:solidFill>
            <a:srgbClr val="1B5E35"/>
          </a:solidFill>
          <a:ln w="12700">
            <a:solidFill>
              <a:srgbClr val="1B5E35"/>
            </a:solidFill>
            <a:prstDash val="solid"/>
          </a:ln>
        </p:spPr>
      </p:sp>
      <p:sp>
        <p:nvSpPr>
          <p:cNvPr id="25" name="Text 23"/>
          <p:cNvSpPr/>
          <p:nvPr/>
        </p:nvSpPr>
        <p:spPr>
          <a:xfrm>
            <a:off x="8924544" y="2066544"/>
            <a:ext cx="2468880" cy="237744"/>
          </a:xfrm>
          <a:prstGeom prst="rect">
            <a:avLst/>
          </a:prstGeom>
          <a:noFill/>
          <a:ln/>
        </p:spPr>
        <p:txBody>
          <a:bodyPr wrap="square" lIns="0" tIns="0" rIns="0" bIns="0" rtlCol="0" anchor="ctr"/>
          <a:lstStyle/>
          <a:p>
            <a:pPr indent="0" marL="0">
              <a:buNone/>
            </a:pPr>
            <a:r>
              <a:rPr lang="en-US" sz="1050" b="1" spc="110" kern="0" dirty="0">
                <a:solidFill>
                  <a:srgbClr val="86EFAC"/>
                </a:solidFill>
                <a:latin typeface="Calibri" pitchFamily="34" charset="0"/>
                <a:ea typeface="Calibri" pitchFamily="34" charset="-122"/>
                <a:cs typeface="Calibri" pitchFamily="34" charset="-120"/>
              </a:rPr>
              <a:t>SUPPORT NEEDED</a:t>
            </a:r>
            <a:endParaRPr lang="en-US" sz="1050" dirty="0"/>
          </a:p>
        </p:txBody>
      </p:sp>
      <p:sp>
        <p:nvSpPr>
          <p:cNvPr id="26" name="Text 24"/>
          <p:cNvSpPr/>
          <p:nvPr/>
        </p:nvSpPr>
        <p:spPr>
          <a:xfrm>
            <a:off x="8924544" y="2340864"/>
            <a:ext cx="2468880" cy="15544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D6F0DF"/>
                </a:solidFill>
                <a:latin typeface="Calibri" pitchFamily="34" charset="0"/>
                <a:ea typeface="Calibri" pitchFamily="34" charset="-122"/>
                <a:cs typeface="Calibri" pitchFamily="34" charset="-120"/>
              </a:rPr>
              <a:t>A calibrated reference-grade sensor for validation</a:t>
            </a:r>
            <a:endParaRPr lang="en-US" sz="1150" dirty="0"/>
          </a:p>
          <a:p>
            <a:pPr marL="342900" indent="-342900">
              <a:spcAft>
                <a:spcPts val="700"/>
              </a:spcAft>
              <a:buSzPct val="100000"/>
              <a:buChar char="•"/>
            </a:pPr>
            <a:r>
              <a:rPr lang="en-US" sz="1150" dirty="0">
                <a:solidFill>
                  <a:srgbClr val="D6F0DF"/>
                </a:solidFill>
                <a:latin typeface="Calibri" pitchFamily="34" charset="0"/>
                <a:ea typeface="Calibri" pitchFamily="34" charset="-122"/>
                <a:cs typeface="Calibri" pitchFamily="34" charset="-120"/>
              </a:rPr>
              <a:t>Permission for on-campus sensor placement</a:t>
            </a:r>
            <a:endParaRPr lang="en-US" sz="1150" dirty="0"/>
          </a:p>
          <a:p>
            <a:pPr marL="342900" indent="-342900">
              <a:spcAft>
                <a:spcPts val="700"/>
              </a:spcAft>
              <a:buSzPct val="100000"/>
              <a:buChar char="•"/>
            </a:pPr>
            <a:r>
              <a:rPr lang="en-US" sz="1150" dirty="0">
                <a:solidFill>
                  <a:srgbClr val="D6F0DF"/>
                </a:solidFill>
                <a:latin typeface="Calibri" pitchFamily="34" charset="0"/>
                <a:ea typeface="Calibri" pitchFamily="34" charset="-122"/>
                <a:cs typeface="Calibri" pitchFamily="34" charset="-120"/>
              </a:rPr>
              <a:t>Cloud credits beyond the trial tier</a:t>
            </a:r>
            <a:endParaRPr lang="en-US" sz="1150" dirty="0"/>
          </a:p>
        </p:txBody>
      </p:sp>
      <p:sp>
        <p:nvSpPr>
          <p:cNvPr id="27" name="Shape 25"/>
          <p:cNvSpPr/>
          <p:nvPr/>
        </p:nvSpPr>
        <p:spPr>
          <a:xfrm>
            <a:off x="566928" y="5705856"/>
            <a:ext cx="11064240" cy="0"/>
          </a:xfrm>
          <a:prstGeom prst="line">
            <a:avLst/>
          </a:prstGeom>
          <a:noFill/>
          <a:ln w="12700">
            <a:solidFill>
              <a:srgbClr val="2C6B45"/>
            </a:solidFill>
            <a:prstDash val="solid"/>
          </a:ln>
        </p:spPr>
      </p:sp>
      <p:sp>
        <p:nvSpPr>
          <p:cNvPr id="28" name="Text 26"/>
          <p:cNvSpPr/>
          <p:nvPr/>
        </p:nvSpPr>
        <p:spPr>
          <a:xfrm>
            <a:off x="566928" y="5852160"/>
            <a:ext cx="6949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Live app  ·  airsense-526660427489.asia-south1.run.app</a:t>
            </a:r>
            <a:endParaRPr lang="en-US" sz="1300" dirty="0"/>
          </a:p>
        </p:txBody>
      </p:sp>
      <p:sp>
        <p:nvSpPr>
          <p:cNvPr id="29" name="Text 27"/>
          <p:cNvSpPr/>
          <p:nvPr/>
        </p:nvSpPr>
        <p:spPr>
          <a:xfrm>
            <a:off x="7589520" y="5852160"/>
            <a:ext cx="4023360" cy="292608"/>
          </a:xfrm>
          <a:prstGeom prst="rect">
            <a:avLst/>
          </a:prstGeom>
          <a:noFill/>
          <a:ln/>
        </p:spPr>
        <p:txBody>
          <a:bodyPr wrap="square" lIns="0" tIns="0" rIns="0" bIns="0" rtlCol="0" anchor="ctr"/>
          <a:lstStyle/>
          <a:p>
            <a:pPr algn="r" indent="0" marL="0">
              <a:buNone/>
            </a:pPr>
            <a:r>
              <a:rPr lang="en-US" sz="1300" dirty="0">
                <a:solidFill>
                  <a:srgbClr val="9DC4AC"/>
                </a:solidFill>
                <a:latin typeface="Calibri" pitchFamily="34" charset="0"/>
                <a:ea typeface="Calibri" pitchFamily="34" charset="-122"/>
                <a:cs typeface="Calibri" pitchFamily="34" charset="-120"/>
              </a:rPr>
              <a:t>Code  ·  github.com/Rex123-hash/Air-Sense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MAIT, Delhi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AirSense — Predicting the Evening Air-Quality Peak Before It Arrives</dc:title>
  <dc:subject>PptxGenJS Presentation</dc:subject>
  <dc:creator>Amaan Khan, Srishti Rathi</dc:creator>
  <cp:lastModifiedBy>Amaan Khan, Srishti Rathi</cp:lastModifiedBy>
  <cp:revision>1</cp:revision>
  <dcterms:created xsi:type="dcterms:W3CDTF">2026-07-26T08:35:01Z</dcterms:created>
  <dcterms:modified xsi:type="dcterms:W3CDTF">2026-07-26T08:35:01Z</dcterms:modified>
</cp:coreProperties>
</file>